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record" id="{22c158b1-4c91-75b6-b001-30895f459a6b}">
          <p14:sldIdLst>
            <p14:sldId id="256"/>
            <p14:sldId id="257"/>
            <p14:sldId id="258"/>
          </p14:sldIdLst>
        </p14:section>
        <p14:section name="The problems" id="{6e93f080-5a12-3c80-28e7-1bf88e47637f}">
          <p14:sldIdLst>
            <p14:sldId id="259"/>
            <p14:sldId id="260"/>
            <p14:sldId id="261"/>
            <p14:sldId id="262"/>
            <p14:sldId id="263"/>
          </p14:sldIdLst>
        </p14:section>
        <p14:section name="The solution" id="{9e0fd384-9063-cacc-8af3-905d85a77f78}">
          <p14:sldIdLst>
            <p14:sldId id="264"/>
            <p14:sldId id="265"/>
            <p14:sldId id="266"/>
          </p14:sldIdLst>
        </p14:section>
        <p14:section name="Making change happen" id="{9e72e299-1103-6b68-245d-dd3170333f89}">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set out to answer a simple question: if the CER wants to use AI to speed up its work - including permitting - can it trust what is in our own public record? To find out, every document in REGDOCS was read, page by page. This is what that taught us, and what it will take to get 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size of our public record: over a quarter of a million documents and three and a half million pages since 2002. Printed and stacked, it would stand about 360 metres - nearly twice the Calgary Tower. It is about as much text as thirteen thousand novels: applications, evidence, letters, environmental studies, drawings and our own decisions. (Paper about 0.1 mm a sheet; a novel about 90,000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person tried to read the whole record - just read it, at about two minutes a page - it would take one person around seventy-five years of full-time work, before checking or correcting anything. With automation, every page was read, compared and catalogued in under a week on a single computer. That is the promise of AI for the CER. The rest of this presentation is about what stands in its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headline. About one document in four in our record cannot be read reliably by a computer. Any AI tool we put on top of this record - search, summaries, assistants for reviewers - can only be as good as what it reads. For a quarter of the record, it would be guessing at pictures of pages, or reading text that is simply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problem is that many documents are not really documents to a computer - they are photos of paper. When someone prints a document and scans it back, the computer sees a picture, not words, and software has to guess what it says. Worse, some scans carry hidden text that does not match the page, so an AI tool would quote something different from what a reviewer reads. And some files look searchable because a copier stamped a word or two on them, while the rest is still a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risk that matters most for AI. When an AI tool has to read a picture of a page, it does not leave a blank where it is unsure - it writes something plausible. Reading a scanned contact list, one tool changed a street number, rewrote a postal code, replaced a real e-mail address with an invented one and added a recipient who does not exist. Nothing in its answer said it was guessing. In our tests even the best tool got about one number in twenty wrong. A missing value can be spotted; an invented one looks exactly like the real thing. (Real names withheld.)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problems. First, privacy: some documents black out personal information by drawing a box over it. The words are still in the file, and any computer - including an AI tool - reads them as if the box were not there. We found landowners' names and addresses exposed this way, and those documents need review now. Second, proof: nothing in our record lets anyone prove a downloaded file is the one that was filed. There is no digital fingerprint, and the official signature is still a paper receipt sent by mail. Fewer than one document in a hundred is signed digitally.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happen? Mostly habit. A letter or an affidavit is written on a computer, printed only so it can be signed in ink, scanned back, and filed as a picture. Nearly half of the unreadable documents come from exactly this. Data has the same problem: our filing system accepts only PDFs, so tables of test results arrive as pictures inside documents, and map data still travels by e-mail or on a USB stick. None of this is anyone's fault - it is how the paper era taught us to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part of the solution is what we ask of filers - mostly settings and habits, not new work. Save documents as PDF from the software that made them instead of printing and scanning. Sign digitally, including sworn statements. Send tables as spreadsheets and maps as map files alongside the document. Redact with tools that actually remove the words. And turn on the accessibility tagging most office software already offers - the same setting that helps blind readers also tells a computer what is a heading and what is a table. The CER's review of its Rules of Practice and Procedure, which already lists modernizing electronic filing, is the natural place to make these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part is our own portal. First and most important, check every file automatically when it is uploaded, and tell the filer exactly what is wrong while they can still fix it - a rule built into the system works where advice in a manual does not. Second, fingerprint and time-stamp every file so anyone can prove a copy is the original without a paper receipt. Third, accept spreadsheets, map files and digital signatures, not just PDFs. Fourth, open the record to automation with bulk access, so our own AI tools, and the public's, can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part is the capability to do this well. AI is a team effort, not a tool you buy. A typical AI program needs a business owner who sets priorities and measures value; regulatory experts who define what a right answer looks like; data engineers who turn the record into reliable data; AI engineers who build, test and monitor the tools; a cloud and security team for a secure, scalable platform; information management for records and fingerprints; privacy, legal and ethics under the federal rules on automated decision-making; and change and training to bring staff and filers along. Others are already moving. The BC Energy Regulator is expanding an AI permit assistant on its cloud platform (CanadaBuys tender, July 2026). The Alberta Energy Regulator's OneStop portal approved about 70 per cent of reclamation, pipeline and water applications automatically (AER 2017/18 annual report, as reported by IT World Canada). The federal AI Strategy for the Public Service 2025-2027 creates an AI Centre of Expertise, sets responsible-AI expectations, and notes a 30 per cent vacancy rate in digital roles - so talent is the constraint to plan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lessons apply well beyond filings. AI is only as good as its data, so fix data where it is created. Failures are silent - a system can look finished and still be wrong, so ask for proof. Rules beat advice - build checks into systems rather than writing more guidance. And small habits add up - printing documents just to sign them created nearly half of this problem. What we are asking for: stand up an AI build team and a cloud strategy with an executive sponsor; change our filing rules and portal through the Rules of Practice review that is already under way; and start now with two quick wins - the automatic upload check, and a privacy review of the documents whose redactions do not hide anything. Others have reached the same conclusion: the UK Local Government Association's playbook for agentic AI (October 2026) says agentic AI is not primarily a technology challenge, and that adoption depends on data maturity, process clarity and leadership discipline as much as on technical capability.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645920"/>
          </a:xfrm>
          <a:prstGeom prst="rect">
            <a:avLst/>
          </a:prstGeom>
          <a:noFill/>
          <a:ln/>
        </p:spPr>
        <p:txBody>
          <a:bodyPr wrap="square" rtlCol="0"/>
          <a:lstStyle>
            <a:lvl1pPr indent="0" marL="0">
              <a:buNone/>
              <a:defRPr lang="en-US" sz="4800" b="1" dirty="0">
                <a:solidFill>
                  <a:schemeClr val="bg1"/>
                </a:solidFill>
              </a:defRPr>
            </a:lvl1pPr>
          </a:lstStyle>
          <a:p>
            <a:pPr indent="0" marL="0">
              <a:buNone/>
            </a:pPr>
            <a:endParaRPr lang="en-US" sz="4800" dirty="0"/>
          </a:p>
        </p:txBody>
      </p:sp>
      <p:sp>
        <p:nvSpPr>
          <p:cNvPr id="3" name="Text 0"/>
          <p:cNvSpPr/>
          <p:nvPr>
            <p:ph idx="101" type="body" hasCustomPrompt="1"/>
          </p:nvPr>
        </p:nvSpPr>
        <p:spPr>
          <a:xfrm>
            <a:off x="731520" y="3657600"/>
            <a:ext cx="10058400" cy="914400"/>
          </a:xfrm>
          <a:prstGeom prst="rect">
            <a:avLst/>
          </a:prstGeom>
          <a:noFill/>
          <a:ln/>
        </p:spPr>
        <p:txBody>
          <a:bodyPr wrap="square" rtlCol="0"/>
          <a:lstStyle>
            <a:lvl1pPr indent="0" marL="0">
              <a:buNone/>
              <a:defRPr lang="en-US" sz="2200" dirty="0">
                <a:solidFill>
                  <a:schemeClr val="bg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indent="0" marL="0">
              <a:buNone/>
              <a:defRPr lang="en-US" sz="3400" b="1" dirty="0">
                <a:solidFill>
                  <a:schemeClr val="tx2"/>
                </a:solidFill>
              </a:defRPr>
            </a:lvl1pPr>
          </a:lstStyle>
          <a:p>
            <a:pPr indent="0" marL="0">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Canada Energy Regulator  ·  October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indent="0" marL="0">
              <a:buNone/>
              <a:defRPr lang="en-US" sz="3400" b="1" dirty="0">
                <a:solidFill>
                  <a:schemeClr val="bg1"/>
                </a:solidFill>
              </a:defRPr>
            </a:lvl1pPr>
          </a:lstStyle>
          <a:p>
            <a:pPr indent="0" marL="0">
              <a:buNone/>
            </a:pPr>
            <a:endParaRPr lang="en-US" sz="3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3.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10698480" cy="1645920"/>
          </a:xfrm>
          <a:prstGeom prst="rect">
            <a:avLst/>
          </a:prstGeom>
          <a:noFill/>
          <a:ln/>
        </p:spPr>
        <p:txBody>
          <a:bodyPr wrap="square" lIns="0" tIns="0" rIns="0" bIns="0" rtlCol="0" anchor="b"/>
          <a:lstStyle/>
          <a:p>
            <a:pPr indent="0" marL="0">
              <a:buNone/>
            </a:pPr>
            <a:r>
              <a:rPr lang="en-US" sz="4800" b="1" dirty="0">
                <a:solidFill>
                  <a:schemeClr val="bg1"/>
                </a:solidFill>
              </a:rPr>
              <a:t>Getting our filings ready for AI</a:t>
            </a:r>
            <a:endParaRPr lang="en-US" sz="4800" dirty="0"/>
          </a:p>
        </p:txBody>
      </p:sp>
      <p:sp>
        <p:nvSpPr>
          <p:cNvPr id="3" name="Text 0"/>
          <p:cNvSpPr/>
          <p:nvPr>
            <p:ph idx="101" type="body" hasCustomPrompt="1"/>
          </p:nvPr>
        </p:nvSpPr>
        <p:spPr>
          <a:xfrm>
            <a:off x="731520" y="3657600"/>
            <a:ext cx="10058400" cy="914400"/>
          </a:xfrm>
          <a:prstGeom prst="rect">
            <a:avLst/>
          </a:prstGeom>
          <a:noFill/>
          <a:ln/>
        </p:spPr>
        <p:txBody>
          <a:bodyPr wrap="square" lIns="0" tIns="0" rIns="0" bIns="0" rtlCol="0" anchor="t"/>
          <a:lstStyle/>
          <a:p>
            <a:pPr indent="0" marL="0">
              <a:buNone/>
            </a:pPr>
            <a:r>
              <a:rPr lang="en-US" sz="2200" dirty="0">
                <a:solidFill>
                  <a:schemeClr val="bg2"/>
                </a:solidFill>
              </a:rPr>
              <a:t>What reading every document in REGDOCS taught us — and what it will take</a:t>
            </a:r>
            <a:endParaRPr lang="en-US" sz="2200" dirty="0"/>
          </a:p>
        </p:txBody>
      </p:sp>
      <p:sp>
        <p:nvSpPr>
          <p:cNvPr id="4" name="Text 2"/>
          <p:cNvSpPr txBox="1"/>
          <p:nvPr/>
        </p:nvSpPr>
        <p:spPr>
          <a:xfrm>
            <a:off x="731520" y="5943600"/>
            <a:ext cx="7315200" cy="365760"/>
          </a:xfrm>
          <a:prstGeom prst="rect">
            <a:avLst/>
          </a:prstGeom>
          <a:noFill/>
          <a:ln/>
        </p:spPr>
        <p:txBody>
          <a:bodyPr wrap="square" lIns="0" tIns="0" rIns="0" bIns="0" rtlCol="0" anchor="ctr"/>
          <a:lstStyle/>
          <a:p>
            <a:pPr indent="0" marL="0">
              <a:buNone/>
            </a:pPr>
            <a:r>
              <a:rPr lang="en-US" sz="1400" dirty="0">
                <a:solidFill>
                  <a:schemeClr val="bg2"/>
                </a:solidFill>
              </a:rPr>
              <a:t>Canada Energy Regulator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400" b="1" dirty="0">
                <a:solidFill>
                  <a:schemeClr val="tx2"/>
                </a:solidFill>
              </a:rPr>
              <a:t>Our public record is enormous</a:t>
            </a:r>
            <a:endParaRPr lang="en-US" sz="3400" dirty="0"/>
          </a:p>
        </p:txBody>
      </p:sp>
      <p:sp>
        <p:nvSpPr>
          <p:cNvPr id="3" name="Text 1"/>
          <p:cNvSpPr txBox="1"/>
          <p:nvPr/>
        </p:nvSpPr>
        <p:spPr>
          <a:xfrm>
            <a:off x="548640" y="1554480"/>
            <a:ext cx="3566160" cy="914400"/>
          </a:xfrm>
          <a:prstGeom prst="rect">
            <a:avLst/>
          </a:prstGeom>
          <a:noFill/>
          <a:ln/>
        </p:spPr>
        <p:txBody>
          <a:bodyPr wrap="square" lIns="0" tIns="0" rIns="0" bIns="0" rtlCol="0" anchor="ctr"/>
          <a:lstStyle/>
          <a:p>
            <a:pPr indent="0" marL="0">
              <a:buNone/>
            </a:pPr>
            <a:r>
              <a:rPr lang="en-US" sz="4400" b="1" dirty="0">
                <a:solidFill>
                  <a:schemeClr val="tx2"/>
                </a:solidFill>
                <a:latin typeface="Cambria" pitchFamily="34" charset="0"/>
                <a:ea typeface="Cambria" pitchFamily="34" charset="-122"/>
                <a:cs typeface="Cambria" pitchFamily="34" charset="-120"/>
              </a:rPr>
              <a:t>269,025</a:t>
            </a:r>
            <a:endParaRPr lang="en-US" sz="4400" dirty="0"/>
          </a:p>
        </p:txBody>
      </p:sp>
      <p:sp>
        <p:nvSpPr>
          <p:cNvPr id="4" name="Text 2"/>
          <p:cNvSpPr txBox="1"/>
          <p:nvPr/>
        </p:nvSpPr>
        <p:spPr>
          <a:xfrm>
            <a:off x="548640" y="2468880"/>
            <a:ext cx="3566160" cy="685800"/>
          </a:xfrm>
          <a:prstGeom prst="rect">
            <a:avLst/>
          </a:prstGeom>
          <a:noFill/>
          <a:ln/>
        </p:spPr>
        <p:txBody>
          <a:bodyPr wrap="square" lIns="0" tIns="0" rIns="0" bIns="0" rtlCol="0" anchor="t"/>
          <a:lstStyle/>
          <a:p>
            <a:pPr indent="0" marL="0">
              <a:buNone/>
            </a:pPr>
            <a:r>
              <a:rPr lang="en-US" sz="1600" dirty="0">
                <a:solidFill>
                  <a:schemeClr val="tx1"/>
                </a:solidFill>
              </a:rPr>
              <a:t>documents filed since 2002</a:t>
            </a:r>
            <a:endParaRPr lang="en-US" sz="1600" dirty="0"/>
          </a:p>
        </p:txBody>
      </p:sp>
      <p:sp>
        <p:nvSpPr>
          <p:cNvPr id="5" name="Text 3"/>
          <p:cNvSpPr txBox="1"/>
          <p:nvPr/>
        </p:nvSpPr>
        <p:spPr>
          <a:xfrm>
            <a:off x="4297680" y="1554480"/>
            <a:ext cx="3566160" cy="914400"/>
          </a:xfrm>
          <a:prstGeom prst="rect">
            <a:avLst/>
          </a:prstGeom>
          <a:noFill/>
          <a:ln/>
        </p:spPr>
        <p:txBody>
          <a:bodyPr wrap="square" lIns="0" tIns="0" rIns="0" bIns="0" rtlCol="0" anchor="ctr"/>
          <a:lstStyle/>
          <a:p>
            <a:pPr indent="0" marL="0">
              <a:buNone/>
            </a:pPr>
            <a:r>
              <a:rPr lang="en-US" sz="4400" b="1" dirty="0">
                <a:solidFill>
                  <a:schemeClr val="tx2"/>
                </a:solidFill>
                <a:latin typeface="Cambria" pitchFamily="34" charset="0"/>
                <a:ea typeface="Cambria" pitchFamily="34" charset="-122"/>
                <a:cs typeface="Cambria" pitchFamily="34" charset="-120"/>
              </a:rPr>
              <a:t>3.6 million</a:t>
            </a:r>
            <a:endParaRPr lang="en-US" sz="4400" dirty="0"/>
          </a:p>
        </p:txBody>
      </p:sp>
      <p:sp>
        <p:nvSpPr>
          <p:cNvPr id="6" name="Text 4"/>
          <p:cNvSpPr txBox="1"/>
          <p:nvPr/>
        </p:nvSpPr>
        <p:spPr>
          <a:xfrm>
            <a:off x="4297680" y="2468880"/>
            <a:ext cx="3566160" cy="685800"/>
          </a:xfrm>
          <a:prstGeom prst="rect">
            <a:avLst/>
          </a:prstGeom>
          <a:noFill/>
          <a:ln/>
        </p:spPr>
        <p:txBody>
          <a:bodyPr wrap="square" lIns="0" tIns="0" rIns="0" bIns="0" rtlCol="0" anchor="t"/>
          <a:lstStyle/>
          <a:p>
            <a:pPr indent="0" marL="0">
              <a:buNone/>
            </a:pPr>
            <a:r>
              <a:rPr lang="en-US" sz="1600" dirty="0">
                <a:solidFill>
                  <a:schemeClr val="tx1"/>
                </a:solidFill>
              </a:rPr>
              <a:t>pages</a:t>
            </a:r>
            <a:endParaRPr lang="en-US" sz="1600" dirty="0"/>
          </a:p>
        </p:txBody>
      </p:sp>
      <p:sp>
        <p:nvSpPr>
          <p:cNvPr id="7" name="Text 5"/>
          <p:cNvSpPr txBox="1"/>
          <p:nvPr/>
        </p:nvSpPr>
        <p:spPr>
          <a:xfrm>
            <a:off x="8046720" y="1554480"/>
            <a:ext cx="3566160" cy="914400"/>
          </a:xfrm>
          <a:prstGeom prst="rect">
            <a:avLst/>
          </a:prstGeom>
          <a:noFill/>
          <a:ln/>
        </p:spPr>
        <p:txBody>
          <a:bodyPr wrap="square" lIns="0" tIns="0" rIns="0" bIns="0" rtlCol="0" anchor="ctr"/>
          <a:lstStyle/>
          <a:p>
            <a:pPr indent="0" marL="0">
              <a:buNone/>
            </a:pPr>
            <a:r>
              <a:rPr lang="en-US" sz="4400" b="1" dirty="0">
                <a:solidFill>
                  <a:schemeClr val="tx2"/>
                </a:solidFill>
                <a:latin typeface="Cambria" pitchFamily="34" charset="0"/>
                <a:ea typeface="Cambria" pitchFamily="34" charset="-122"/>
                <a:cs typeface="Cambria" pitchFamily="34" charset="-120"/>
              </a:rPr>
              <a:t>1.2 billion</a:t>
            </a:r>
            <a:endParaRPr lang="en-US" sz="4400" dirty="0"/>
          </a:p>
        </p:txBody>
      </p:sp>
      <p:sp>
        <p:nvSpPr>
          <p:cNvPr id="8" name="Text 6"/>
          <p:cNvSpPr txBox="1"/>
          <p:nvPr/>
        </p:nvSpPr>
        <p:spPr>
          <a:xfrm>
            <a:off x="8046720" y="2468880"/>
            <a:ext cx="3566160" cy="685800"/>
          </a:xfrm>
          <a:prstGeom prst="rect">
            <a:avLst/>
          </a:prstGeom>
          <a:noFill/>
          <a:ln/>
        </p:spPr>
        <p:txBody>
          <a:bodyPr wrap="square" lIns="0" tIns="0" rIns="0" bIns="0" rtlCol="0" anchor="t"/>
          <a:lstStyle/>
          <a:p>
            <a:pPr indent="0" marL="0">
              <a:buNone/>
            </a:pPr>
            <a:r>
              <a:rPr lang="en-US" sz="1600" dirty="0">
                <a:solidFill>
                  <a:schemeClr val="tx1"/>
                </a:solidFill>
              </a:rPr>
              <a:t>words</a:t>
            </a:r>
            <a:endParaRPr lang="en-US" sz="1600" dirty="0"/>
          </a:p>
        </p:txBody>
      </p:sp>
      <p:sp>
        <p:nvSpPr>
          <p:cNvPr id="9" name="Shape 7"/>
          <p:cNvSpPr/>
          <p:nvPr/>
        </p:nvSpPr>
        <p:spPr>
          <a:xfrm>
            <a:off x="548640" y="3657600"/>
            <a:ext cx="5394960" cy="2377440"/>
          </a:xfrm>
          <a:prstGeom prst="roundRect">
            <a:avLst>
              <a:gd name="adj" fmla="val 5769"/>
            </a:avLst>
          </a:prstGeom>
          <a:solidFill>
            <a:schemeClr val="bg2"/>
          </a:solidFill>
          <a:ln/>
        </p:spPr>
      </p:sp>
      <p:pic>
        <p:nvPicPr>
          <p:cNvPr id="10" name="Image 0" descr="preencoded.png">    </p:cNvPr>
          <p:cNvPicPr>
            <a:picLocks noChangeAspect="1"/>
          </p:cNvPicPr>
          <p:nvPr/>
        </p:nvPicPr>
        <p:blipFill>
          <a:blip r:embed="rId1"/>
          <a:stretch>
            <a:fillRect/>
          </a:stretch>
        </p:blipFill>
        <p:spPr>
          <a:xfrm>
            <a:off x="868680" y="3977640"/>
            <a:ext cx="640080" cy="640080"/>
          </a:xfrm>
          <a:prstGeom prst="rect">
            <a:avLst/>
          </a:prstGeom>
        </p:spPr>
      </p:pic>
      <p:sp>
        <p:nvSpPr>
          <p:cNvPr id="11" name="Text 8"/>
          <p:cNvSpPr txBox="1"/>
          <p:nvPr/>
        </p:nvSpPr>
        <p:spPr>
          <a:xfrm>
            <a:off x="1737360" y="3931920"/>
            <a:ext cx="4023360" cy="777240"/>
          </a:xfrm>
          <a:prstGeom prst="rect">
            <a:avLst/>
          </a:prstGeom>
          <a:noFill/>
          <a:ln/>
        </p:spPr>
        <p:txBody>
          <a:bodyPr wrap="square" lIns="0" tIns="0" rIns="0" bIns="0" rtlCol="0" anchor="ctr"/>
          <a:lstStyle/>
          <a:p>
            <a:pPr indent="0" marL="0">
              <a:buNone/>
            </a:pPr>
            <a:r>
              <a:rPr lang="en-US" sz="2000" b="1" dirty="0">
                <a:solidFill>
                  <a:schemeClr val="tx2"/>
                </a:solidFill>
              </a:rPr>
              <a:t>Printed, a stack about 360 metres tall</a:t>
            </a:r>
            <a:endParaRPr lang="en-US" sz="2000" dirty="0"/>
          </a:p>
        </p:txBody>
      </p:sp>
      <p:sp>
        <p:nvSpPr>
          <p:cNvPr id="12" name="Text 9"/>
          <p:cNvSpPr txBox="1"/>
          <p:nvPr/>
        </p:nvSpPr>
        <p:spPr>
          <a:xfrm>
            <a:off x="1737360" y="4754880"/>
            <a:ext cx="4023360" cy="822960"/>
          </a:xfrm>
          <a:prstGeom prst="rect">
            <a:avLst/>
          </a:prstGeom>
          <a:noFill/>
          <a:ln/>
        </p:spPr>
        <p:txBody>
          <a:bodyPr wrap="square" lIns="0" tIns="0" rIns="0" bIns="0" rtlCol="0" anchor="t"/>
          <a:lstStyle/>
          <a:p>
            <a:pPr indent="0" marL="0">
              <a:buNone/>
            </a:pPr>
            <a:r>
              <a:rPr lang="en-US" sz="1600" dirty="0">
                <a:solidFill>
                  <a:schemeClr val="tx1"/>
                </a:solidFill>
              </a:rPr>
              <a:t>nearly twice the height of the Calgary Tower</a:t>
            </a:r>
            <a:endParaRPr lang="en-US" sz="1600" dirty="0"/>
          </a:p>
        </p:txBody>
      </p:sp>
      <p:sp>
        <p:nvSpPr>
          <p:cNvPr id="13" name="Shape 10"/>
          <p:cNvSpPr/>
          <p:nvPr/>
        </p:nvSpPr>
        <p:spPr>
          <a:xfrm>
            <a:off x="6217920" y="3657600"/>
            <a:ext cx="5394960" cy="2377440"/>
          </a:xfrm>
          <a:prstGeom prst="roundRect">
            <a:avLst>
              <a:gd name="adj" fmla="val 5769"/>
            </a:avLst>
          </a:prstGeom>
          <a:solidFill>
            <a:schemeClr val="bg2"/>
          </a:solidFill>
          <a:ln/>
        </p:spPr>
      </p:sp>
      <p:pic>
        <p:nvPicPr>
          <p:cNvPr id="14" name="Image 1" descr="preencoded.png">    </p:cNvPr>
          <p:cNvPicPr>
            <a:picLocks noChangeAspect="1"/>
          </p:cNvPicPr>
          <p:nvPr/>
        </p:nvPicPr>
        <p:blipFill>
          <a:blip r:embed="rId2"/>
          <a:stretch>
            <a:fillRect/>
          </a:stretch>
        </p:blipFill>
        <p:spPr>
          <a:xfrm>
            <a:off x="6537960" y="3977640"/>
            <a:ext cx="640080" cy="640080"/>
          </a:xfrm>
          <a:prstGeom prst="rect">
            <a:avLst/>
          </a:prstGeom>
        </p:spPr>
      </p:pic>
      <p:sp>
        <p:nvSpPr>
          <p:cNvPr id="15" name="Text 11"/>
          <p:cNvSpPr txBox="1"/>
          <p:nvPr/>
        </p:nvSpPr>
        <p:spPr>
          <a:xfrm>
            <a:off x="7406640" y="3931920"/>
            <a:ext cx="4023360" cy="777240"/>
          </a:xfrm>
          <a:prstGeom prst="rect">
            <a:avLst/>
          </a:prstGeom>
          <a:noFill/>
          <a:ln/>
        </p:spPr>
        <p:txBody>
          <a:bodyPr wrap="square" lIns="0" tIns="0" rIns="0" bIns="0" rtlCol="0" anchor="ctr"/>
          <a:lstStyle/>
          <a:p>
            <a:pPr indent="0" marL="0">
              <a:buNone/>
            </a:pPr>
            <a:r>
              <a:rPr lang="en-US" sz="2000" b="1" dirty="0">
                <a:solidFill>
                  <a:schemeClr val="tx2"/>
                </a:solidFill>
              </a:rPr>
              <a:t>About 13,000 novels’ worth of text</a:t>
            </a:r>
            <a:endParaRPr lang="en-US" sz="2000" dirty="0"/>
          </a:p>
        </p:txBody>
      </p:sp>
      <p:sp>
        <p:nvSpPr>
          <p:cNvPr id="16" name="Text 12"/>
          <p:cNvSpPr txBox="1"/>
          <p:nvPr/>
        </p:nvSpPr>
        <p:spPr>
          <a:xfrm>
            <a:off x="7406640" y="4754880"/>
            <a:ext cx="4023360" cy="822960"/>
          </a:xfrm>
          <a:prstGeom prst="rect">
            <a:avLst/>
          </a:prstGeom>
          <a:noFill/>
          <a:ln/>
        </p:spPr>
        <p:txBody>
          <a:bodyPr wrap="square" lIns="0" tIns="0" rIns="0" bIns="0" rtlCol="0" anchor="t"/>
          <a:lstStyle/>
          <a:p>
            <a:pPr indent="0" marL="0">
              <a:buNone/>
            </a:pPr>
            <a:r>
              <a:rPr lang="en-US" sz="1600" dirty="0">
                <a:solidFill>
                  <a:schemeClr val="tx1"/>
                </a:solidFill>
              </a:rPr>
              <a:t>applications, evidence, letters, studies, drawings and decisions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400" b="1" dirty="0">
                <a:solidFill>
                  <a:schemeClr val="tx2"/>
                </a:solidFill>
              </a:rPr>
              <a:t>Reading it all by hand is not realistic</a:t>
            </a:r>
            <a:endParaRPr lang="en-US" sz="3400" dirty="0"/>
          </a:p>
        </p:txBody>
      </p:sp>
      <p:sp>
        <p:nvSpPr>
          <p:cNvPr id="3" name="Shape 1"/>
          <p:cNvSpPr/>
          <p:nvPr/>
        </p:nvSpPr>
        <p:spPr>
          <a:xfrm>
            <a:off x="548640" y="1463040"/>
            <a:ext cx="5394960" cy="4206240"/>
          </a:xfrm>
          <a:prstGeom prst="roundRect">
            <a:avLst>
              <a:gd name="adj" fmla="val 3261"/>
            </a:avLst>
          </a:prstGeom>
          <a:solidFill>
            <a:schemeClr val="bg2"/>
          </a:solidFill>
          <a:ln/>
        </p:spPr>
      </p:sp>
      <p:pic>
        <p:nvPicPr>
          <p:cNvPr id="4" name="Image 0" descr="preencoded.png">    </p:cNvPr>
          <p:cNvPicPr>
            <a:picLocks noChangeAspect="1"/>
          </p:cNvPicPr>
          <p:nvPr/>
        </p:nvPicPr>
        <p:blipFill>
          <a:blip r:embed="rId1"/>
          <a:stretch>
            <a:fillRect/>
          </a:stretch>
        </p:blipFill>
        <p:spPr>
          <a:xfrm>
            <a:off x="868680" y="1783080"/>
            <a:ext cx="731520" cy="731520"/>
          </a:xfrm>
          <a:prstGeom prst="rect">
            <a:avLst/>
          </a:prstGeom>
        </p:spPr>
      </p:pic>
      <p:sp>
        <p:nvSpPr>
          <p:cNvPr id="5" name="Text 2"/>
          <p:cNvSpPr txBox="1"/>
          <p:nvPr/>
        </p:nvSpPr>
        <p:spPr>
          <a:xfrm>
            <a:off x="1828800" y="1828800"/>
            <a:ext cx="3840480" cy="640080"/>
          </a:xfrm>
          <a:prstGeom prst="rect">
            <a:avLst/>
          </a:prstGeom>
          <a:noFill/>
          <a:ln/>
        </p:spPr>
        <p:txBody>
          <a:bodyPr wrap="square" lIns="0" tIns="0" rIns="0" bIns="0" rtlCol="0" anchor="ctr"/>
          <a:lstStyle/>
          <a:p>
            <a:pPr indent="0" marL="0">
              <a:buNone/>
            </a:pPr>
            <a:r>
              <a:rPr lang="en-US" sz="2400" b="1" dirty="0">
                <a:solidFill>
                  <a:schemeClr val="tx2"/>
                </a:solidFill>
              </a:rPr>
              <a:t>By hand</a:t>
            </a:r>
            <a:endParaRPr lang="en-US" sz="2400" dirty="0"/>
          </a:p>
        </p:txBody>
      </p:sp>
      <p:sp>
        <p:nvSpPr>
          <p:cNvPr id="6" name="Text 3"/>
          <p:cNvSpPr txBox="1"/>
          <p:nvPr/>
        </p:nvSpPr>
        <p:spPr>
          <a:xfrm>
            <a:off x="868680" y="2743200"/>
            <a:ext cx="4754880" cy="914400"/>
          </a:xfrm>
          <a:prstGeom prst="rect">
            <a:avLst/>
          </a:prstGeom>
          <a:noFill/>
          <a:ln/>
        </p:spPr>
        <p:txBody>
          <a:bodyPr wrap="square" lIns="0" tIns="0" rIns="0" bIns="0" rtlCol="0" anchor="ctr"/>
          <a:lstStyle/>
          <a:p>
            <a:pPr indent="0" marL="0">
              <a:buNone/>
            </a:pPr>
            <a:r>
              <a:rPr lang="en-US" sz="5400" b="1" dirty="0">
                <a:solidFill>
                  <a:schemeClr val="tx2"/>
                </a:solidFill>
                <a:latin typeface="Cambria" pitchFamily="34" charset="0"/>
                <a:ea typeface="Cambria" pitchFamily="34" charset="-122"/>
                <a:cs typeface="Cambria" pitchFamily="34" charset="-120"/>
              </a:rPr>
              <a:t>~75 years</a:t>
            </a:r>
            <a:endParaRPr lang="en-US" sz="5400" dirty="0"/>
          </a:p>
        </p:txBody>
      </p:sp>
      <p:sp>
        <p:nvSpPr>
          <p:cNvPr id="7" name="Text 4"/>
          <p:cNvSpPr txBox="1"/>
          <p:nvPr/>
        </p:nvSpPr>
        <p:spPr>
          <a:xfrm>
            <a:off x="868680" y="3657600"/>
            <a:ext cx="4754880" cy="685800"/>
          </a:xfrm>
          <a:prstGeom prst="rect">
            <a:avLst/>
          </a:prstGeom>
          <a:noFill/>
          <a:ln/>
        </p:spPr>
        <p:txBody>
          <a:bodyPr wrap="square" lIns="0" tIns="0" rIns="0" bIns="0" rtlCol="0" anchor="t"/>
          <a:lstStyle/>
          <a:p>
            <a:pPr indent="0" marL="0">
              <a:buNone/>
            </a:pPr>
            <a:r>
              <a:rPr lang="en-US" sz="1600" dirty="0">
                <a:solidFill>
                  <a:schemeClr val="tx1"/>
                </a:solidFill>
              </a:rPr>
              <a:t>for one person reading full-time, before checking or fixing anything</a:t>
            </a:r>
            <a:endParaRPr lang="en-US" sz="1600" dirty="0"/>
          </a:p>
        </p:txBody>
      </p:sp>
      <p:sp>
        <p:nvSpPr>
          <p:cNvPr id="8" name="Shape 5"/>
          <p:cNvSpPr/>
          <p:nvPr/>
        </p:nvSpPr>
        <p:spPr>
          <a:xfrm>
            <a:off x="6217920" y="1463040"/>
            <a:ext cx="5394960" cy="4206240"/>
          </a:xfrm>
          <a:prstGeom prst="roundRect">
            <a:avLst>
              <a:gd name="adj" fmla="val 3261"/>
            </a:avLst>
          </a:prstGeom>
          <a:solidFill>
            <a:schemeClr val="tx2"/>
          </a:solidFill>
          <a:ln/>
        </p:spPr>
      </p:sp>
      <p:pic>
        <p:nvPicPr>
          <p:cNvPr id="9" name="Image 1" descr="preencoded.png">    </p:cNvPr>
          <p:cNvPicPr>
            <a:picLocks noChangeAspect="1"/>
          </p:cNvPicPr>
          <p:nvPr/>
        </p:nvPicPr>
        <p:blipFill>
          <a:blip r:embed="rId2"/>
          <a:stretch>
            <a:fillRect/>
          </a:stretch>
        </p:blipFill>
        <p:spPr>
          <a:xfrm>
            <a:off x="6537960" y="1783080"/>
            <a:ext cx="731520" cy="731520"/>
          </a:xfrm>
          <a:prstGeom prst="rect">
            <a:avLst/>
          </a:prstGeom>
        </p:spPr>
      </p:pic>
      <p:sp>
        <p:nvSpPr>
          <p:cNvPr id="10" name="Text 6"/>
          <p:cNvSpPr txBox="1"/>
          <p:nvPr/>
        </p:nvSpPr>
        <p:spPr>
          <a:xfrm>
            <a:off x="7498080" y="1828800"/>
            <a:ext cx="3840480" cy="640080"/>
          </a:xfrm>
          <a:prstGeom prst="rect">
            <a:avLst/>
          </a:prstGeom>
          <a:noFill/>
          <a:ln/>
        </p:spPr>
        <p:txBody>
          <a:bodyPr wrap="square" lIns="0" tIns="0" rIns="0" bIns="0" rtlCol="0" anchor="ctr"/>
          <a:lstStyle/>
          <a:p>
            <a:pPr indent="0" marL="0">
              <a:buNone/>
            </a:pPr>
            <a:r>
              <a:rPr lang="en-US" sz="2400" b="1" dirty="0">
                <a:solidFill>
                  <a:schemeClr val="bg1"/>
                </a:solidFill>
              </a:rPr>
              <a:t>With automation</a:t>
            </a:r>
            <a:endParaRPr lang="en-US" sz="2400" dirty="0"/>
          </a:p>
        </p:txBody>
      </p:sp>
      <p:sp>
        <p:nvSpPr>
          <p:cNvPr id="11" name="Text 7"/>
          <p:cNvSpPr txBox="1"/>
          <p:nvPr/>
        </p:nvSpPr>
        <p:spPr>
          <a:xfrm>
            <a:off x="6537960" y="2743200"/>
            <a:ext cx="4754880" cy="914400"/>
          </a:xfrm>
          <a:prstGeom prst="rect">
            <a:avLst/>
          </a:prstGeom>
          <a:noFill/>
          <a:ln/>
        </p:spPr>
        <p:txBody>
          <a:bodyPr wrap="square" lIns="0" tIns="0" rIns="0" bIns="0" rtlCol="0" anchor="ctr"/>
          <a:lstStyle/>
          <a:p>
            <a:pPr indent="0" marL="0">
              <a:buNone/>
            </a:pPr>
            <a:r>
              <a:rPr lang="en-US" sz="5400" b="1" dirty="0">
                <a:solidFill>
                  <a:schemeClr val="accent1"/>
                </a:solidFill>
                <a:latin typeface="Cambria" pitchFamily="34" charset="0"/>
                <a:ea typeface="Cambria" pitchFamily="34" charset="-122"/>
                <a:cs typeface="Cambria" pitchFamily="34" charset="-120"/>
              </a:rPr>
              <a:t>Under a week</a:t>
            </a:r>
            <a:endParaRPr lang="en-US" sz="5400" dirty="0"/>
          </a:p>
        </p:txBody>
      </p:sp>
      <p:sp>
        <p:nvSpPr>
          <p:cNvPr id="12" name="Text 8"/>
          <p:cNvSpPr txBox="1"/>
          <p:nvPr/>
        </p:nvSpPr>
        <p:spPr>
          <a:xfrm>
            <a:off x="6537960" y="3657600"/>
            <a:ext cx="4754880" cy="685800"/>
          </a:xfrm>
          <a:prstGeom prst="rect">
            <a:avLst/>
          </a:prstGeom>
          <a:noFill/>
          <a:ln/>
        </p:spPr>
        <p:txBody>
          <a:bodyPr wrap="square" lIns="0" tIns="0" rIns="0" bIns="0" rtlCol="0" anchor="t"/>
          <a:lstStyle/>
          <a:p>
            <a:pPr indent="0" marL="0">
              <a:buNone/>
            </a:pPr>
            <a:r>
              <a:rPr lang="en-US" sz="1600" dirty="0">
                <a:solidFill>
                  <a:schemeClr val="bg2"/>
                </a:solidFill>
              </a:rPr>
              <a:t>on one computer: every page read, compared and catalogued</a:t>
            </a:r>
            <a:endParaRPr lang="en-US" sz="1600" dirty="0"/>
          </a:p>
        </p:txBody>
      </p:sp>
      <p:sp>
        <p:nvSpPr>
          <p:cNvPr id="13" name="Text 9"/>
          <p:cNvSpPr txBox="1"/>
          <p:nvPr/>
        </p:nvSpPr>
        <p:spPr>
          <a:xfrm>
            <a:off x="548640" y="5852160"/>
            <a:ext cx="11064240" cy="320040"/>
          </a:xfrm>
          <a:prstGeom prst="rect">
            <a:avLst/>
          </a:prstGeom>
          <a:noFill/>
          <a:ln/>
        </p:spPr>
        <p:txBody>
          <a:bodyPr wrap="square" lIns="0" tIns="0" rIns="0" bIns="0" rtlCol="0" anchor="ctr"/>
          <a:lstStyle/>
          <a:p>
            <a:pPr indent="0" marL="0">
              <a:buNone/>
            </a:pPr>
            <a:r>
              <a:rPr lang="en-US" sz="1100" dirty="0">
                <a:solidFill>
                  <a:schemeClr val="accent3"/>
                </a:solidFill>
              </a:rPr>
              <a:t>Estimate: about two minutes to read a page; 1,600 working hours a year.</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400" b="1" dirty="0">
                <a:solidFill>
                  <a:schemeClr val="bg1"/>
                </a:solidFill>
              </a:rPr>
              <a:t>What we found</a:t>
            </a:r>
            <a:endParaRPr lang="en-US" sz="3400" dirty="0"/>
          </a:p>
        </p:txBody>
      </p:sp>
      <p:sp>
        <p:nvSpPr>
          <p:cNvPr id="3" name="Text 1"/>
          <p:cNvSpPr txBox="1"/>
          <p:nvPr/>
        </p:nvSpPr>
        <p:spPr>
          <a:xfrm>
            <a:off x="548640" y="1737360"/>
            <a:ext cx="5120640" cy="2011680"/>
          </a:xfrm>
          <a:prstGeom prst="rect">
            <a:avLst/>
          </a:prstGeom>
          <a:noFill/>
          <a:ln/>
        </p:spPr>
        <p:txBody>
          <a:bodyPr wrap="square" lIns="0" tIns="0" rIns="0" bIns="0" rtlCol="0" anchor="ctr"/>
          <a:lstStyle/>
          <a:p>
            <a:pPr indent="0" marL="0">
              <a:buNone/>
            </a:pPr>
            <a:r>
              <a:rPr lang="en-US" sz="10800" b="1" dirty="0">
                <a:solidFill>
                  <a:schemeClr val="accent1"/>
                </a:solidFill>
                <a:latin typeface="Cambria" pitchFamily="34" charset="0"/>
                <a:ea typeface="Cambria" pitchFamily="34" charset="-122"/>
                <a:cs typeface="Cambria" pitchFamily="34" charset="-120"/>
              </a:rPr>
              <a:t>1 in 4</a:t>
            </a:r>
            <a:endParaRPr lang="en-US" sz="10800" dirty="0"/>
          </a:p>
        </p:txBody>
      </p:sp>
      <p:sp>
        <p:nvSpPr>
          <p:cNvPr id="4" name="Text 2"/>
          <p:cNvSpPr txBox="1"/>
          <p:nvPr/>
        </p:nvSpPr>
        <p:spPr>
          <a:xfrm>
            <a:off x="5852160" y="2011680"/>
            <a:ext cx="5760720" cy="1463040"/>
          </a:xfrm>
          <a:prstGeom prst="rect">
            <a:avLst/>
          </a:prstGeom>
          <a:noFill/>
          <a:ln/>
        </p:spPr>
        <p:txBody>
          <a:bodyPr wrap="square" lIns="0" tIns="0" rIns="0" bIns="0" rtlCol="0" anchor="ctr"/>
          <a:lstStyle/>
          <a:p>
            <a:pPr indent="0" marL="0">
              <a:buNone/>
            </a:pPr>
            <a:r>
              <a:rPr lang="en-US" sz="3200" b="1" dirty="0">
                <a:solidFill>
                  <a:schemeClr val="bg1"/>
                </a:solidFill>
              </a:rPr>
              <a:t>documents cannot be read reliably by a computer</a:t>
            </a:r>
            <a:endParaRPr lang="en-US" sz="3200" dirty="0"/>
          </a:p>
        </p:txBody>
      </p:sp>
      <p:sp>
        <p:nvSpPr>
          <p:cNvPr id="5" name="Text 3"/>
          <p:cNvSpPr txBox="1"/>
          <p:nvPr/>
        </p:nvSpPr>
        <p:spPr>
          <a:xfrm>
            <a:off x="548640" y="4297680"/>
            <a:ext cx="11064240" cy="1097280"/>
          </a:xfrm>
          <a:prstGeom prst="rect">
            <a:avLst/>
          </a:prstGeom>
          <a:noFill/>
          <a:ln/>
        </p:spPr>
        <p:txBody>
          <a:bodyPr wrap="square" lIns="0" tIns="0" rIns="0" bIns="0" rtlCol="0" anchor="t"/>
          <a:lstStyle/>
          <a:p>
            <a:pPr indent="0" marL="0">
              <a:buNone/>
            </a:pPr>
            <a:r>
              <a:rPr lang="en-US" sz="2200" dirty="0">
                <a:solidFill>
                  <a:schemeClr val="bg2"/>
                </a:solidFill>
              </a:rPr>
              <a:t>AI can only be as good as what it reads. Today, a quarter of our record would give it pictures to guess at, or text that is wrong.</a:t>
            </a:r>
            <a:endParaRPr lang="en-US" sz="2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400" b="1" dirty="0">
                <a:solidFill>
                  <a:schemeClr val="tx2"/>
                </a:solidFill>
              </a:rPr>
              <a:t>Many documents are photos of paper</a:t>
            </a:r>
            <a:endParaRPr lang="en-US" sz="3400" dirty="0"/>
          </a:p>
        </p:txBody>
      </p:sp>
      <p:sp>
        <p:nvSpPr>
          <p:cNvPr id="3" name="Shape 1"/>
          <p:cNvSpPr/>
          <p:nvPr/>
        </p:nvSpPr>
        <p:spPr>
          <a:xfrm>
            <a:off x="548640" y="1554480"/>
            <a:ext cx="777240" cy="777240"/>
          </a:xfrm>
          <a:prstGeom prst="ellipse">
            <a:avLst/>
          </a:prstGeom>
          <a:solidFill>
            <a:schemeClr val="tx2"/>
          </a:solidFill>
          <a:ln/>
        </p:spPr>
      </p:sp>
      <p:pic>
        <p:nvPicPr>
          <p:cNvPr id="4" name="Image 0" descr="preencoded.png">    </p:cNvPr>
          <p:cNvPicPr>
            <a:picLocks noChangeAspect="1"/>
          </p:cNvPicPr>
          <p:nvPr/>
        </p:nvPicPr>
        <p:blipFill>
          <a:blip r:embed="rId1"/>
          <a:stretch>
            <a:fillRect/>
          </a:stretch>
        </p:blipFill>
        <p:spPr>
          <a:xfrm>
            <a:off x="731520" y="1737360"/>
            <a:ext cx="411480" cy="411480"/>
          </a:xfrm>
          <a:prstGeom prst="rect">
            <a:avLst/>
          </a:prstGeom>
        </p:spPr>
      </p:pic>
      <p:sp>
        <p:nvSpPr>
          <p:cNvPr id="5" name="Text 2"/>
          <p:cNvSpPr txBox="1"/>
          <p:nvPr/>
        </p:nvSpPr>
        <p:spPr>
          <a:xfrm>
            <a:off x="1600200" y="1508760"/>
            <a:ext cx="9966960" cy="411480"/>
          </a:xfrm>
          <a:prstGeom prst="rect">
            <a:avLst/>
          </a:prstGeom>
          <a:noFill/>
          <a:ln/>
        </p:spPr>
        <p:txBody>
          <a:bodyPr wrap="square" lIns="0" tIns="0" rIns="0" bIns="0" rtlCol="0" anchor="ctr"/>
          <a:lstStyle/>
          <a:p>
            <a:pPr indent="0" marL="0">
              <a:buNone/>
            </a:pPr>
            <a:r>
              <a:rPr lang="en-US" sz="2000" b="1" dirty="0">
                <a:solidFill>
                  <a:schemeClr val="tx2"/>
                </a:solidFill>
              </a:rPr>
              <a:t>Pictures, not text</a:t>
            </a:r>
            <a:endParaRPr lang="en-US" sz="2000" dirty="0"/>
          </a:p>
        </p:txBody>
      </p:sp>
      <p:sp>
        <p:nvSpPr>
          <p:cNvPr id="6" name="Text 3"/>
          <p:cNvSpPr txBox="1"/>
          <p:nvPr/>
        </p:nvSpPr>
        <p:spPr>
          <a:xfrm>
            <a:off x="1600200" y="1920240"/>
            <a:ext cx="9966960" cy="502920"/>
          </a:xfrm>
          <a:prstGeom prst="rect">
            <a:avLst/>
          </a:prstGeom>
          <a:noFill/>
          <a:ln/>
        </p:spPr>
        <p:txBody>
          <a:bodyPr wrap="square" lIns="0" tIns="0" rIns="0" bIns="0" rtlCol="0" anchor="t"/>
          <a:lstStyle/>
          <a:p>
            <a:pPr indent="0" marL="0">
              <a:buNone/>
            </a:pPr>
            <a:r>
              <a:rPr lang="en-US" sz="1600" dirty="0">
                <a:solidFill>
                  <a:schemeClr val="tx1"/>
                </a:solidFill>
              </a:rPr>
              <a:t>Printed and scanned documents arrive as photos of pages. A computer sees no words until software guesses them.</a:t>
            </a:r>
            <a:endParaRPr lang="en-US" sz="1600" dirty="0"/>
          </a:p>
        </p:txBody>
      </p:sp>
      <p:sp>
        <p:nvSpPr>
          <p:cNvPr id="7" name="Shape 4"/>
          <p:cNvSpPr/>
          <p:nvPr/>
        </p:nvSpPr>
        <p:spPr>
          <a:xfrm>
            <a:off x="548640" y="2743200"/>
            <a:ext cx="777240" cy="777240"/>
          </a:xfrm>
          <a:prstGeom prst="ellipse">
            <a:avLst/>
          </a:prstGeom>
          <a:solidFill>
            <a:schemeClr val="tx2"/>
          </a:solidFill>
          <a:ln/>
        </p:spPr>
      </p:sp>
      <p:pic>
        <p:nvPicPr>
          <p:cNvPr id="8" name="Image 1" descr="preencoded.png">    </p:cNvPr>
          <p:cNvPicPr>
            <a:picLocks noChangeAspect="1"/>
          </p:cNvPicPr>
          <p:nvPr/>
        </p:nvPicPr>
        <p:blipFill>
          <a:blip r:embed="rId2"/>
          <a:stretch>
            <a:fillRect/>
          </a:stretch>
        </p:blipFill>
        <p:spPr>
          <a:xfrm>
            <a:off x="731520" y="2926080"/>
            <a:ext cx="411480" cy="411480"/>
          </a:xfrm>
          <a:prstGeom prst="rect">
            <a:avLst/>
          </a:prstGeom>
        </p:spPr>
      </p:pic>
      <p:sp>
        <p:nvSpPr>
          <p:cNvPr id="9" name="Text 5"/>
          <p:cNvSpPr txBox="1"/>
          <p:nvPr/>
        </p:nvSpPr>
        <p:spPr>
          <a:xfrm>
            <a:off x="1600200" y="2697480"/>
            <a:ext cx="9966960" cy="411480"/>
          </a:xfrm>
          <a:prstGeom prst="rect">
            <a:avLst/>
          </a:prstGeom>
          <a:noFill/>
          <a:ln/>
        </p:spPr>
        <p:txBody>
          <a:bodyPr wrap="square" lIns="0" tIns="0" rIns="0" bIns="0" rtlCol="0" anchor="ctr"/>
          <a:lstStyle/>
          <a:p>
            <a:pPr indent="0" marL="0">
              <a:buNone/>
            </a:pPr>
            <a:r>
              <a:rPr lang="en-US" sz="2000" b="1" dirty="0">
                <a:solidFill>
                  <a:schemeClr val="tx2"/>
                </a:solidFill>
              </a:rPr>
              <a:t>What the computer reads is not what you see</a:t>
            </a:r>
            <a:endParaRPr lang="en-US" sz="2000" dirty="0"/>
          </a:p>
        </p:txBody>
      </p:sp>
      <p:sp>
        <p:nvSpPr>
          <p:cNvPr id="10" name="Text 6"/>
          <p:cNvSpPr txBox="1"/>
          <p:nvPr/>
        </p:nvSpPr>
        <p:spPr>
          <a:xfrm>
            <a:off x="1600200" y="3108960"/>
            <a:ext cx="9966960" cy="502920"/>
          </a:xfrm>
          <a:prstGeom prst="rect">
            <a:avLst/>
          </a:prstGeom>
          <a:noFill/>
          <a:ln/>
        </p:spPr>
        <p:txBody>
          <a:bodyPr wrap="square" lIns="0" tIns="0" rIns="0" bIns="0" rtlCol="0" anchor="t"/>
          <a:lstStyle/>
          <a:p>
            <a:pPr indent="0" marL="0">
              <a:buNone/>
            </a:pPr>
            <a:r>
              <a:rPr lang="en-US" sz="1600" dirty="0">
                <a:solidFill>
                  <a:schemeClr val="tx1"/>
                </a:solidFill>
              </a:rPr>
              <a:t>Some scans carry hidden text that does not match the page. An AI tool would quote the hidden text, not what a reviewer reads.</a:t>
            </a:r>
            <a:endParaRPr lang="en-US" sz="1600" dirty="0"/>
          </a:p>
        </p:txBody>
      </p:sp>
      <p:sp>
        <p:nvSpPr>
          <p:cNvPr id="11" name="Shape 7"/>
          <p:cNvSpPr/>
          <p:nvPr/>
        </p:nvSpPr>
        <p:spPr>
          <a:xfrm>
            <a:off x="548640" y="3931920"/>
            <a:ext cx="777240" cy="777240"/>
          </a:xfrm>
          <a:prstGeom prst="ellipse">
            <a:avLst/>
          </a:prstGeom>
          <a:solidFill>
            <a:schemeClr val="tx2"/>
          </a:solidFill>
          <a:ln/>
        </p:spPr>
      </p:sp>
      <p:pic>
        <p:nvPicPr>
          <p:cNvPr id="12" name="Image 2" descr="preencoded.png">    </p:cNvPr>
          <p:cNvPicPr>
            <a:picLocks noChangeAspect="1"/>
          </p:cNvPicPr>
          <p:nvPr/>
        </p:nvPicPr>
        <p:blipFill>
          <a:blip r:embed="rId3"/>
          <a:stretch>
            <a:fillRect/>
          </a:stretch>
        </p:blipFill>
        <p:spPr>
          <a:xfrm>
            <a:off x="731520" y="4114800"/>
            <a:ext cx="411480" cy="411480"/>
          </a:xfrm>
          <a:prstGeom prst="rect">
            <a:avLst/>
          </a:prstGeom>
        </p:spPr>
      </p:pic>
      <p:sp>
        <p:nvSpPr>
          <p:cNvPr id="13" name="Text 8"/>
          <p:cNvSpPr txBox="1"/>
          <p:nvPr/>
        </p:nvSpPr>
        <p:spPr>
          <a:xfrm>
            <a:off x="1600200" y="3886200"/>
            <a:ext cx="9966960" cy="411480"/>
          </a:xfrm>
          <a:prstGeom prst="rect">
            <a:avLst/>
          </a:prstGeom>
          <a:noFill/>
          <a:ln/>
        </p:spPr>
        <p:txBody>
          <a:bodyPr wrap="square" lIns="0" tIns="0" rIns="0" bIns="0" rtlCol="0" anchor="ctr"/>
          <a:lstStyle/>
          <a:p>
            <a:pPr indent="0" marL="0">
              <a:buNone/>
            </a:pPr>
            <a:r>
              <a:rPr lang="en-US" sz="2000" b="1" dirty="0">
                <a:solidFill>
                  <a:schemeClr val="tx2"/>
                </a:solidFill>
              </a:rPr>
              <a:t>Files that look searchable but are not</a:t>
            </a:r>
            <a:endParaRPr lang="en-US" sz="2000" dirty="0"/>
          </a:p>
        </p:txBody>
      </p:sp>
      <p:sp>
        <p:nvSpPr>
          <p:cNvPr id="14" name="Text 9"/>
          <p:cNvSpPr txBox="1"/>
          <p:nvPr/>
        </p:nvSpPr>
        <p:spPr>
          <a:xfrm>
            <a:off x="1600200" y="4297680"/>
            <a:ext cx="9966960" cy="502920"/>
          </a:xfrm>
          <a:prstGeom prst="rect">
            <a:avLst/>
          </a:prstGeom>
          <a:noFill/>
          <a:ln/>
        </p:spPr>
        <p:txBody>
          <a:bodyPr wrap="square" lIns="0" tIns="0" rIns="0" bIns="0" rtlCol="0" anchor="t"/>
          <a:lstStyle/>
          <a:p>
            <a:pPr indent="0" marL="0">
              <a:buNone/>
            </a:pPr>
            <a:r>
              <a:rPr lang="en-US" sz="1600" dirty="0">
                <a:solidFill>
                  <a:schemeClr val="tx1"/>
                </a:solidFill>
              </a:rPr>
              <a:t>A copier stamp like “Received” makes a scanned file look searchable while it holds only a few words.</a:t>
            </a:r>
            <a:endParaRPr lang="en-US" sz="1600" dirty="0"/>
          </a:p>
        </p:txBody>
      </p:sp>
      <p:sp>
        <p:nvSpPr>
          <p:cNvPr id="15" name="Text 10"/>
          <p:cNvSpPr txBox="1"/>
          <p:nvPr/>
        </p:nvSpPr>
        <p:spPr>
          <a:xfrm>
            <a:off x="548640" y="5303520"/>
            <a:ext cx="11064240" cy="548640"/>
          </a:xfrm>
          <a:prstGeom prst="rect">
            <a:avLst/>
          </a:prstGeom>
          <a:noFill/>
          <a:ln/>
        </p:spPr>
        <p:txBody>
          <a:bodyPr wrap="square" lIns="0" tIns="0" rIns="0" bIns="0" rtlCol="0" anchor="ctr"/>
          <a:lstStyle/>
          <a:p>
            <a:pPr indent="0" marL="0">
              <a:buNone/>
            </a:pPr>
            <a:r>
              <a:rPr lang="en-US" sz="1800" i="1" dirty="0">
                <a:solidFill>
                  <a:schemeClr val="tx2"/>
                </a:solidFill>
              </a:rPr>
              <a:t>In plain terms: the same document can say one thing to a person and another to a machine.</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400" b="1" dirty="0">
                <a:solidFill>
                  <a:schemeClr val="tx2"/>
                </a:solidFill>
              </a:rPr>
              <a:t>When AI has to guess, it makes things up</a:t>
            </a:r>
            <a:endParaRPr lang="en-US" sz="3400" dirty="0"/>
          </a:p>
        </p:txBody>
      </p:sp>
      <p:sp>
        <p:nvSpPr>
          <p:cNvPr id="3" name="Text 1"/>
          <p:cNvSpPr txBox="1"/>
          <p:nvPr/>
        </p:nvSpPr>
        <p:spPr>
          <a:xfrm>
            <a:off x="548640" y="1417320"/>
            <a:ext cx="6583680" cy="411480"/>
          </a:xfrm>
          <a:prstGeom prst="rect">
            <a:avLst/>
          </a:prstGeom>
          <a:noFill/>
          <a:ln/>
        </p:spPr>
        <p:txBody>
          <a:bodyPr wrap="square" lIns="0" tIns="0" rIns="0" bIns="0" rtlCol="0" anchor="ctr"/>
          <a:lstStyle/>
          <a:p>
            <a:pPr indent="0" marL="0">
              <a:buNone/>
            </a:pPr>
            <a:r>
              <a:rPr lang="en-US" sz="1800" b="1" dirty="0">
                <a:solidFill>
                  <a:schemeClr val="accent1"/>
                </a:solidFill>
              </a:rPr>
              <a:t>An AI tool reading a scanned contact list</a:t>
            </a:r>
            <a:endParaRPr lang="en-US" sz="1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6583680" cy="914400"/>
        </p:xfrm>
        <a:graphic>
          <a:graphicData uri="http://schemas.openxmlformats.org/drawingml/2006/table">
            <a:tbl>
              <a:tblPr/>
              <a:tblGrid>
                <a:gridCol w="1828800"/>
                <a:gridCol w="2011680"/>
                <a:gridCol w="2743200"/>
              </a:tblGrid>
              <a:tr h="502920">
                <a:tc>
                  <a:txBody>
                    <a:bodyPr/>
                    <a:lstStyle/>
                    <a:p>
                      <a:pPr indent="0" marL="0">
                        <a:buNone/>
                      </a:pPr>
                      <a:endParaRPr lang="en-US" sz="1600" dirty="0"/>
                    </a:p>
                  </a:txBody>
                  <a:tcPr marL="73152" marR="73152" marT="73152" marB="73152">
                    <a:lnL w="9525" cap="flat" cmpd="sng" algn="ctr">
                      <a:solidFill>
                        <a:srgbClr val="B8C6CC"/>
                      </a:solidFill>
                      <a:prstDash val="solid"/>
                      <a:round/>
                      <a:headEnd type="none" w="med" len="med"/>
                      <a:tailEnd type="none" w="med" len="med"/>
                    </a:lnL>
                    <a:lnR w="9525" cap="flat" cmpd="sng" algn="ctr">
                      <a:solidFill>
                        <a:srgbClr val="B8C6CC"/>
                      </a:solidFill>
                      <a:prstDash val="solid"/>
                      <a:round/>
                      <a:headEnd type="none" w="med" len="med"/>
                      <a:tailEnd type="none" w="med" len="med"/>
                    </a:lnR>
                    <a:lnT w="9525" cap="flat" cmpd="sng" algn="ctr">
                      <a:solidFill>
                        <a:srgbClr val="B8C6CC"/>
                      </a:solidFill>
                      <a:prstDash val="solid"/>
                      <a:round/>
                      <a:headEnd type="none" w="med" len="med"/>
                      <a:tailEnd type="none" w="med" len="med"/>
                    </a:lnT>
                    <a:lnB w="9525" cap="flat" cmpd="sng" algn="ctr">
                      <a:solidFill>
                        <a:srgbClr val="B8C6CC"/>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rPr>
                        <a:t>On the page</a:t>
                      </a:r>
                      <a:endParaRPr lang="en-US" sz="1600" dirty="0"/>
                    </a:p>
                  </a:txBody>
                  <a:tcPr marL="73152" marR="73152" marT="73152" marB="73152">
                    <a:lnL w="9525" cap="flat" cmpd="sng" algn="ctr">
                      <a:solidFill>
                        <a:srgbClr val="B8C6CC"/>
                      </a:solidFill>
                      <a:prstDash val="solid"/>
                      <a:round/>
                      <a:headEnd type="none" w="med" len="med"/>
                      <a:tailEnd type="none" w="med" len="med"/>
                    </a:lnL>
                    <a:lnR w="9525" cap="flat" cmpd="sng" algn="ctr">
                      <a:solidFill>
                        <a:srgbClr val="B8C6CC"/>
                      </a:solidFill>
                      <a:prstDash val="solid"/>
                      <a:round/>
                      <a:headEnd type="none" w="med" len="med"/>
                      <a:tailEnd type="none" w="med" len="med"/>
                    </a:lnR>
                    <a:lnT w="9525" cap="flat" cmpd="sng" algn="ctr">
                      <a:solidFill>
                        <a:srgbClr val="B8C6CC"/>
                      </a:solidFill>
                      <a:prstDash val="solid"/>
                      <a:round/>
                      <a:headEnd type="none" w="med" len="med"/>
                      <a:tailEnd type="none" w="med" len="med"/>
                    </a:lnT>
                    <a:lnB w="9525" cap="flat" cmpd="sng" algn="ctr">
                      <a:solidFill>
                        <a:srgbClr val="B8C6CC"/>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rPr>
                        <a:t>What the AI wrote</a:t>
                      </a:r>
                      <a:endParaRPr lang="en-US" sz="1600" dirty="0"/>
                    </a:p>
                  </a:txBody>
                  <a:tcPr marL="73152" marR="73152" marT="73152" marB="73152">
                    <a:lnL w="9525" cap="flat" cmpd="sng" algn="ctr">
                      <a:solidFill>
                        <a:srgbClr val="B8C6CC"/>
                      </a:solidFill>
                      <a:prstDash val="solid"/>
                      <a:round/>
                      <a:headEnd type="none" w="med" len="med"/>
                      <a:tailEnd type="none" w="med" len="med"/>
                    </a:lnL>
                    <a:lnR w="9525" cap="flat" cmpd="sng" algn="ctr">
                      <a:solidFill>
                        <a:srgbClr val="B8C6CC"/>
                      </a:solidFill>
                      <a:prstDash val="solid"/>
                      <a:round/>
                      <a:headEnd type="none" w="med" len="med"/>
                      <a:tailEnd type="none" w="med" len="med"/>
                    </a:lnR>
                    <a:lnT w="9525" cap="flat" cmpd="sng" algn="ctr">
                      <a:solidFill>
                        <a:srgbClr val="B8C6CC"/>
                      </a:solidFill>
                      <a:prstDash val="solid"/>
                      <a:round/>
                      <a:headEnd type="none" w="med" len="med"/>
                      <a:tailEnd type="none" w="med" len="med"/>
                    </a:lnT>
                    <a:lnB w="9525" cap="flat" cmpd="sng" algn="ctr">
                      <a:solidFill>
                        <a:srgbClr val="B8C6CC"/>
                      </a:solidFill>
                      <a:prstDash val="solid"/>
                      <a:round/>
                      <a:headEnd type="none" w="med" len="med"/>
                      <a:tailEnd type="none" w="med" len="med"/>
                    </a:lnB>
                    <a:solidFill>
                      <a:schemeClr val="tx2"/>
                    </a:solidFill>
                  </a:tcPr>
                </a:tc>
              </a:tr>
              <a:tr h="502920">
                <a:tc>
                  <a:txBody>
                    <a:bodyPr/>
                    <a:lstStyle/>
                    <a:p>
                      <a:pPr indent="0" marL="0">
                        <a:buNone/>
                      </a:pPr>
                      <a:r>
                        <a:rPr lang="en-US" sz="1600" dirty="0">
                          <a:solidFill>
                            <a:schemeClr val="tx1"/>
                          </a:solidFill>
                        </a:rPr>
                        <a:t>Street number</a:t>
                      </a:r>
                      <a:endParaRPr lang="en-US" sz="1600" dirty="0"/>
                    </a:p>
                  </a:txBody>
                  <a:tcPr marL="73152" marR="73152" marT="73152" marB="73152">
                    <a:lnL w="9525" cap="flat" cmpd="sng" algn="ctr">
                      <a:solidFill>
                        <a:srgbClr val="B8C6CC"/>
                      </a:solidFill>
                      <a:prstDash val="solid"/>
                      <a:round/>
                      <a:headEnd type="none" w="med" len="med"/>
                      <a:tailEnd type="none" w="med" len="med"/>
                    </a:lnL>
                    <a:lnR w="9525" cap="flat" cmpd="sng" algn="ctr">
                      <a:solidFill>
                        <a:srgbClr val="B8C6CC"/>
                      </a:solidFill>
                      <a:prstDash val="solid"/>
                      <a:round/>
                      <a:headEnd type="none" w="med" len="med"/>
                      <a:tailEnd type="none" w="med" len="med"/>
                    </a:lnR>
                    <a:lnT w="9525" cap="flat" cmpd="sng" algn="ctr">
                      <a:solidFill>
                        <a:srgbClr val="B8C6CC"/>
                      </a:solidFill>
                      <a:prstDash val="solid"/>
                      <a:round/>
                      <a:headEnd type="none" w="med" len="med"/>
                      <a:tailEnd type="none" w="med" len="med"/>
                    </a:lnT>
                    <a:lnB w="9525" cap="flat" cmpd="sng" algn="ctr">
                      <a:solidFill>
                        <a:srgbClr val="B8C6CC"/>
                      </a:solidFill>
                      <a:prstDash val="solid"/>
                      <a:round/>
                      <a:headEnd type="none" w="med" len="med"/>
                      <a:tailEnd type="none" w="med" len="med"/>
                    </a:lnB>
                  </a:tcPr>
                </a:tc>
                <a:tc>
                  <a:txBody>
                    <a:bodyPr/>
                    <a:lstStyle/>
                    <a:p>
                      <a:pPr indent="0" marL="0">
                        <a:buNone/>
                      </a:pPr>
                      <a:r>
                        <a:rPr lang="en-US" sz="1600" dirty="0">
                          <a:solidFill>
                            <a:schemeClr val="tx1"/>
                          </a:solidFill>
                        </a:rPr>
                        <a:t>980</a:t>
                      </a:r>
                      <a:endParaRPr lang="en-US" sz="1600" dirty="0"/>
                    </a:p>
                  </a:txBody>
                  <a:tcPr marL="73152" marR="73152" marT="73152" marB="73152">
                    <a:lnL w="9525" cap="flat" cmpd="sng" algn="ctr">
                      <a:solidFill>
                        <a:srgbClr val="B8C6CC"/>
                      </a:solidFill>
                      <a:prstDash val="solid"/>
                      <a:round/>
                      <a:headEnd type="none" w="med" len="med"/>
                      <a:tailEnd type="none" w="med" len="med"/>
                    </a:lnL>
                    <a:lnR w="9525" cap="flat" cmpd="sng" algn="ctr">
                      <a:solidFill>
                        <a:srgbClr val="B8C6CC"/>
                      </a:solidFill>
                      <a:prstDash val="solid"/>
                      <a:round/>
                      <a:headEnd type="none" w="med" len="med"/>
                      <a:tailEnd type="none" w="med" len="med"/>
                    </a:lnR>
                    <a:lnT w="9525" cap="flat" cmpd="sng" algn="ctr">
                      <a:solidFill>
                        <a:srgbClr val="B8C6CC"/>
                      </a:solidFill>
                      <a:prstDash val="solid"/>
                      <a:round/>
                      <a:headEnd type="none" w="med" len="med"/>
                      <a:tailEnd type="none" w="med" len="med"/>
                    </a:lnT>
                    <a:lnB w="9525" cap="flat" cmpd="sng" algn="ctr">
                      <a:solidFill>
                        <a:srgbClr val="B8C6CC"/>
                      </a:solidFill>
                      <a:prstDash val="solid"/>
                      <a:round/>
                      <a:headEnd type="none" w="med" len="med"/>
                      <a:tailEnd type="none" w="med" len="med"/>
                    </a:lnB>
                  </a:tcPr>
                </a:tc>
                <a:tc>
                  <a:txBody>
                    <a:bodyPr/>
                    <a:lstStyle/>
                    <a:p>
                      <a:pPr indent="0" marL="0">
                        <a:buNone/>
                      </a:pPr>
                      <a:r>
                        <a:rPr lang="en-US" sz="1600" dirty="0">
                          <a:solidFill>
                            <a:schemeClr val="tx1"/>
                          </a:solidFill>
                        </a:rPr>
                        <a:t>680</a:t>
                      </a:r>
                      <a:endParaRPr lang="en-US" sz="1600" dirty="0"/>
                    </a:p>
                  </a:txBody>
                  <a:tcPr marL="73152" marR="73152" marT="73152" marB="73152">
                    <a:lnL w="9525" cap="flat" cmpd="sng" algn="ctr">
                      <a:solidFill>
                        <a:srgbClr val="B8C6CC"/>
                      </a:solidFill>
                      <a:prstDash val="solid"/>
                      <a:round/>
                      <a:headEnd type="none" w="med" len="med"/>
                      <a:tailEnd type="none" w="med" len="med"/>
                    </a:lnL>
                    <a:lnR w="9525" cap="flat" cmpd="sng" algn="ctr">
                      <a:solidFill>
                        <a:srgbClr val="B8C6CC"/>
                      </a:solidFill>
                      <a:prstDash val="solid"/>
                      <a:round/>
                      <a:headEnd type="none" w="med" len="med"/>
                      <a:tailEnd type="none" w="med" len="med"/>
                    </a:lnR>
                    <a:lnT w="9525" cap="flat" cmpd="sng" algn="ctr">
                      <a:solidFill>
                        <a:srgbClr val="B8C6CC"/>
                      </a:solidFill>
                      <a:prstDash val="solid"/>
                      <a:round/>
                      <a:headEnd type="none" w="med" len="med"/>
                      <a:tailEnd type="none" w="med" len="med"/>
                    </a:lnT>
                    <a:lnB w="9525" cap="flat" cmpd="sng" algn="ctr">
                      <a:solidFill>
                        <a:srgbClr val="B8C6CC"/>
                      </a:solidFill>
                      <a:prstDash val="solid"/>
                      <a:round/>
                      <a:headEnd type="none" w="med" len="med"/>
                      <a:tailEnd type="none" w="med" len="med"/>
                    </a:lnB>
                  </a:tcPr>
                </a:tc>
              </a:tr>
              <a:tr h="502920">
                <a:tc>
                  <a:txBody>
                    <a:bodyPr/>
                    <a:lstStyle/>
                    <a:p>
                      <a:pPr indent="0" marL="0">
                        <a:buNone/>
                      </a:pPr>
                      <a:r>
                        <a:rPr lang="en-US" sz="1600" dirty="0">
                          <a:solidFill>
                            <a:schemeClr val="tx1"/>
                          </a:solidFill>
                        </a:rPr>
                        <a:t>Postal code</a:t>
                      </a:r>
                      <a:endParaRPr lang="en-US" sz="1600" dirty="0"/>
                    </a:p>
                  </a:txBody>
                  <a:tcPr marL="73152" marR="73152" marT="73152" marB="73152">
                    <a:lnL w="9525" cap="flat" cmpd="sng" algn="ctr">
                      <a:solidFill>
                        <a:srgbClr val="B8C6CC"/>
                      </a:solidFill>
                      <a:prstDash val="solid"/>
                      <a:round/>
                      <a:headEnd type="none" w="med" len="med"/>
                      <a:tailEnd type="none" w="med" len="med"/>
                    </a:lnL>
                    <a:lnR w="9525" cap="flat" cmpd="sng" algn="ctr">
                      <a:solidFill>
                        <a:srgbClr val="B8C6CC"/>
                      </a:solidFill>
                      <a:prstDash val="solid"/>
                      <a:round/>
                      <a:headEnd type="none" w="med" len="med"/>
                      <a:tailEnd type="none" w="med" len="med"/>
                    </a:lnR>
                    <a:lnT w="9525" cap="flat" cmpd="sng" algn="ctr">
                      <a:solidFill>
                        <a:srgbClr val="B8C6CC"/>
                      </a:solidFill>
                      <a:prstDash val="solid"/>
                      <a:round/>
                      <a:headEnd type="none" w="med" len="med"/>
                      <a:tailEnd type="none" w="med" len="med"/>
                    </a:lnT>
                    <a:lnB w="9525" cap="flat" cmpd="sng" algn="ctr">
                      <a:solidFill>
                        <a:srgbClr val="B8C6CC"/>
                      </a:solidFill>
                      <a:prstDash val="solid"/>
                      <a:round/>
                      <a:headEnd type="none" w="med" len="med"/>
                      <a:tailEnd type="none" w="med" len="med"/>
                    </a:lnB>
                  </a:tcPr>
                </a:tc>
                <a:tc>
                  <a:txBody>
                    <a:bodyPr/>
                    <a:lstStyle/>
                    <a:p>
                      <a:pPr indent="0" marL="0">
                        <a:buNone/>
                      </a:pPr>
                      <a:r>
                        <a:rPr lang="en-US" sz="1600" dirty="0">
                          <a:solidFill>
                            <a:schemeClr val="tx1"/>
                          </a:solidFill>
                        </a:rPr>
                        <a:t>V6Z 0C8</a:t>
                      </a:r>
                      <a:endParaRPr lang="en-US" sz="1600" dirty="0"/>
                    </a:p>
                  </a:txBody>
                  <a:tcPr marL="73152" marR="73152" marT="73152" marB="73152">
                    <a:lnL w="9525" cap="flat" cmpd="sng" algn="ctr">
                      <a:solidFill>
                        <a:srgbClr val="B8C6CC"/>
                      </a:solidFill>
                      <a:prstDash val="solid"/>
                      <a:round/>
                      <a:headEnd type="none" w="med" len="med"/>
                      <a:tailEnd type="none" w="med" len="med"/>
                    </a:lnL>
                    <a:lnR w="9525" cap="flat" cmpd="sng" algn="ctr">
                      <a:solidFill>
                        <a:srgbClr val="B8C6CC"/>
                      </a:solidFill>
                      <a:prstDash val="solid"/>
                      <a:round/>
                      <a:headEnd type="none" w="med" len="med"/>
                      <a:tailEnd type="none" w="med" len="med"/>
                    </a:lnR>
                    <a:lnT w="9525" cap="flat" cmpd="sng" algn="ctr">
                      <a:solidFill>
                        <a:srgbClr val="B8C6CC"/>
                      </a:solidFill>
                      <a:prstDash val="solid"/>
                      <a:round/>
                      <a:headEnd type="none" w="med" len="med"/>
                      <a:tailEnd type="none" w="med" len="med"/>
                    </a:lnT>
                    <a:lnB w="9525" cap="flat" cmpd="sng" algn="ctr">
                      <a:solidFill>
                        <a:srgbClr val="B8C6CC"/>
                      </a:solidFill>
                      <a:prstDash val="solid"/>
                      <a:round/>
                      <a:headEnd type="none" w="med" len="med"/>
                      <a:tailEnd type="none" w="med" len="med"/>
                    </a:lnB>
                  </a:tcPr>
                </a:tc>
                <a:tc>
                  <a:txBody>
                    <a:bodyPr/>
                    <a:lstStyle/>
                    <a:p>
                      <a:pPr indent="0" marL="0">
                        <a:buNone/>
                      </a:pPr>
                      <a:r>
                        <a:rPr lang="en-US" sz="1600" dirty="0">
                          <a:solidFill>
                            <a:schemeClr val="tx1"/>
                          </a:solidFill>
                        </a:rPr>
                        <a:t>V5Z OCB</a:t>
                      </a:r>
                      <a:endParaRPr lang="en-US" sz="1600" dirty="0"/>
                    </a:p>
                  </a:txBody>
                  <a:tcPr marL="73152" marR="73152" marT="73152" marB="73152">
                    <a:lnL w="9525" cap="flat" cmpd="sng" algn="ctr">
                      <a:solidFill>
                        <a:srgbClr val="B8C6CC"/>
                      </a:solidFill>
                      <a:prstDash val="solid"/>
                      <a:round/>
                      <a:headEnd type="none" w="med" len="med"/>
                      <a:tailEnd type="none" w="med" len="med"/>
                    </a:lnL>
                    <a:lnR w="9525" cap="flat" cmpd="sng" algn="ctr">
                      <a:solidFill>
                        <a:srgbClr val="B8C6CC"/>
                      </a:solidFill>
                      <a:prstDash val="solid"/>
                      <a:round/>
                      <a:headEnd type="none" w="med" len="med"/>
                      <a:tailEnd type="none" w="med" len="med"/>
                    </a:lnR>
                    <a:lnT w="9525" cap="flat" cmpd="sng" algn="ctr">
                      <a:solidFill>
                        <a:srgbClr val="B8C6CC"/>
                      </a:solidFill>
                      <a:prstDash val="solid"/>
                      <a:round/>
                      <a:headEnd type="none" w="med" len="med"/>
                      <a:tailEnd type="none" w="med" len="med"/>
                    </a:lnT>
                    <a:lnB w="9525" cap="flat" cmpd="sng" algn="ctr">
                      <a:solidFill>
                        <a:srgbClr val="B8C6CC"/>
                      </a:solidFill>
                      <a:prstDash val="solid"/>
                      <a:round/>
                      <a:headEnd type="none" w="med" len="med"/>
                      <a:tailEnd type="none" w="med" len="med"/>
                    </a:lnB>
                  </a:tcPr>
                </a:tc>
              </a:tr>
              <a:tr h="502920">
                <a:tc>
                  <a:txBody>
                    <a:bodyPr/>
                    <a:lstStyle/>
                    <a:p>
                      <a:pPr indent="0" marL="0">
                        <a:buNone/>
                      </a:pPr>
                      <a:r>
                        <a:rPr lang="en-US" sz="1600" dirty="0">
                          <a:solidFill>
                            <a:schemeClr val="tx1"/>
                          </a:solidFill>
                        </a:rPr>
                        <a:t>E-mail</a:t>
                      </a:r>
                      <a:endParaRPr lang="en-US" sz="1600" dirty="0"/>
                    </a:p>
                  </a:txBody>
                  <a:tcPr marL="73152" marR="73152" marT="73152" marB="73152">
                    <a:lnL w="9525" cap="flat" cmpd="sng" algn="ctr">
                      <a:solidFill>
                        <a:srgbClr val="B8C6CC"/>
                      </a:solidFill>
                      <a:prstDash val="solid"/>
                      <a:round/>
                      <a:headEnd type="none" w="med" len="med"/>
                      <a:tailEnd type="none" w="med" len="med"/>
                    </a:lnL>
                    <a:lnR w="9525" cap="flat" cmpd="sng" algn="ctr">
                      <a:solidFill>
                        <a:srgbClr val="B8C6CC"/>
                      </a:solidFill>
                      <a:prstDash val="solid"/>
                      <a:round/>
                      <a:headEnd type="none" w="med" len="med"/>
                      <a:tailEnd type="none" w="med" len="med"/>
                    </a:lnR>
                    <a:lnT w="9525" cap="flat" cmpd="sng" algn="ctr">
                      <a:solidFill>
                        <a:srgbClr val="B8C6CC"/>
                      </a:solidFill>
                      <a:prstDash val="solid"/>
                      <a:round/>
                      <a:headEnd type="none" w="med" len="med"/>
                      <a:tailEnd type="none" w="med" len="med"/>
                    </a:lnT>
                    <a:lnB w="9525" cap="flat" cmpd="sng" algn="ctr">
                      <a:solidFill>
                        <a:srgbClr val="B8C6CC"/>
                      </a:solidFill>
                      <a:prstDash val="solid"/>
                      <a:round/>
                      <a:headEnd type="none" w="med" len="med"/>
                      <a:tailEnd type="none" w="med" len="med"/>
                    </a:lnB>
                  </a:tcPr>
                </a:tc>
                <a:tc>
                  <a:txBody>
                    <a:bodyPr/>
                    <a:lstStyle/>
                    <a:p>
                      <a:pPr indent="0" marL="0">
                        <a:buNone/>
                      </a:pPr>
                      <a:r>
                        <a:rPr lang="en-US" sz="1600" dirty="0">
                          <a:solidFill>
                            <a:schemeClr val="tx1"/>
                          </a:solidFill>
                        </a:rPr>
                        <a:t>a real person</a:t>
                      </a:r>
                      <a:endParaRPr lang="en-US" sz="1600" dirty="0"/>
                    </a:p>
                  </a:txBody>
                  <a:tcPr marL="73152" marR="73152" marT="73152" marB="73152">
                    <a:lnL w="9525" cap="flat" cmpd="sng" algn="ctr">
                      <a:solidFill>
                        <a:srgbClr val="B8C6CC"/>
                      </a:solidFill>
                      <a:prstDash val="solid"/>
                      <a:round/>
                      <a:headEnd type="none" w="med" len="med"/>
                      <a:tailEnd type="none" w="med" len="med"/>
                    </a:lnL>
                    <a:lnR w="9525" cap="flat" cmpd="sng" algn="ctr">
                      <a:solidFill>
                        <a:srgbClr val="B8C6CC"/>
                      </a:solidFill>
                      <a:prstDash val="solid"/>
                      <a:round/>
                      <a:headEnd type="none" w="med" len="med"/>
                      <a:tailEnd type="none" w="med" len="med"/>
                    </a:lnR>
                    <a:lnT w="9525" cap="flat" cmpd="sng" algn="ctr">
                      <a:solidFill>
                        <a:srgbClr val="B8C6CC"/>
                      </a:solidFill>
                      <a:prstDash val="solid"/>
                      <a:round/>
                      <a:headEnd type="none" w="med" len="med"/>
                      <a:tailEnd type="none" w="med" len="med"/>
                    </a:lnT>
                    <a:lnB w="9525" cap="flat" cmpd="sng" algn="ctr">
                      <a:solidFill>
                        <a:srgbClr val="B8C6CC"/>
                      </a:solidFill>
                      <a:prstDash val="solid"/>
                      <a:round/>
                      <a:headEnd type="none" w="med" len="med"/>
                      <a:tailEnd type="none" w="med" len="med"/>
                    </a:lnB>
                  </a:tcPr>
                </a:tc>
                <a:tc>
                  <a:txBody>
                    <a:bodyPr/>
                    <a:lstStyle/>
                    <a:p>
                      <a:pPr indent="0" marL="0">
                        <a:buNone/>
                      </a:pPr>
                      <a:r>
                        <a:rPr lang="en-US" sz="1600" dirty="0">
                          <a:solidFill>
                            <a:schemeClr val="tx1"/>
                          </a:solidFill>
                        </a:rPr>
                        <a:t>an invented address</a:t>
                      </a:r>
                      <a:endParaRPr lang="en-US" sz="1600" dirty="0"/>
                    </a:p>
                  </a:txBody>
                  <a:tcPr marL="73152" marR="73152" marT="73152" marB="73152">
                    <a:lnL w="9525" cap="flat" cmpd="sng" algn="ctr">
                      <a:solidFill>
                        <a:srgbClr val="B8C6CC"/>
                      </a:solidFill>
                      <a:prstDash val="solid"/>
                      <a:round/>
                      <a:headEnd type="none" w="med" len="med"/>
                      <a:tailEnd type="none" w="med" len="med"/>
                    </a:lnL>
                    <a:lnR w="9525" cap="flat" cmpd="sng" algn="ctr">
                      <a:solidFill>
                        <a:srgbClr val="B8C6CC"/>
                      </a:solidFill>
                      <a:prstDash val="solid"/>
                      <a:round/>
                      <a:headEnd type="none" w="med" len="med"/>
                      <a:tailEnd type="none" w="med" len="med"/>
                    </a:lnR>
                    <a:lnT w="9525" cap="flat" cmpd="sng" algn="ctr">
                      <a:solidFill>
                        <a:srgbClr val="B8C6CC"/>
                      </a:solidFill>
                      <a:prstDash val="solid"/>
                      <a:round/>
                      <a:headEnd type="none" w="med" len="med"/>
                      <a:tailEnd type="none" w="med" len="med"/>
                    </a:lnT>
                    <a:lnB w="9525" cap="flat" cmpd="sng" algn="ctr">
                      <a:solidFill>
                        <a:srgbClr val="B8C6CC"/>
                      </a:solidFill>
                      <a:prstDash val="solid"/>
                      <a:round/>
                      <a:headEnd type="none" w="med" len="med"/>
                      <a:tailEnd type="none" w="med" len="med"/>
                    </a:lnB>
                  </a:tcPr>
                </a:tc>
              </a:tr>
              <a:tr h="502920">
                <a:tc>
                  <a:txBody>
                    <a:bodyPr/>
                    <a:lstStyle/>
                    <a:p>
                      <a:pPr indent="0" marL="0">
                        <a:buNone/>
                      </a:pPr>
                      <a:r>
                        <a:rPr lang="en-US" sz="1600" dirty="0">
                          <a:solidFill>
                            <a:schemeClr val="tx1"/>
                          </a:solidFill>
                        </a:rPr>
                        <a:t>Recipients</a:t>
                      </a:r>
                      <a:endParaRPr lang="en-US" sz="1600" dirty="0"/>
                    </a:p>
                  </a:txBody>
                  <a:tcPr marL="73152" marR="73152" marT="73152" marB="73152">
                    <a:lnL w="9525" cap="flat" cmpd="sng" algn="ctr">
                      <a:solidFill>
                        <a:srgbClr val="B8C6CC"/>
                      </a:solidFill>
                      <a:prstDash val="solid"/>
                      <a:round/>
                      <a:headEnd type="none" w="med" len="med"/>
                      <a:tailEnd type="none" w="med" len="med"/>
                    </a:lnL>
                    <a:lnR w="9525" cap="flat" cmpd="sng" algn="ctr">
                      <a:solidFill>
                        <a:srgbClr val="B8C6CC"/>
                      </a:solidFill>
                      <a:prstDash val="solid"/>
                      <a:round/>
                      <a:headEnd type="none" w="med" len="med"/>
                      <a:tailEnd type="none" w="med" len="med"/>
                    </a:lnR>
                    <a:lnT w="9525" cap="flat" cmpd="sng" algn="ctr">
                      <a:solidFill>
                        <a:srgbClr val="B8C6CC"/>
                      </a:solidFill>
                      <a:prstDash val="solid"/>
                      <a:round/>
                      <a:headEnd type="none" w="med" len="med"/>
                      <a:tailEnd type="none" w="med" len="med"/>
                    </a:lnT>
                    <a:lnB w="9525" cap="flat" cmpd="sng" algn="ctr">
                      <a:solidFill>
                        <a:srgbClr val="B8C6CC"/>
                      </a:solidFill>
                      <a:prstDash val="solid"/>
                      <a:round/>
                      <a:headEnd type="none" w="med" len="med"/>
                      <a:tailEnd type="none" w="med" len="med"/>
                    </a:lnB>
                  </a:tcPr>
                </a:tc>
                <a:tc>
                  <a:txBody>
                    <a:bodyPr/>
                    <a:lstStyle/>
                    <a:p>
                      <a:pPr indent="0" marL="0">
                        <a:buNone/>
                      </a:pPr>
                      <a:r>
                        <a:rPr lang="en-US" sz="1600" dirty="0">
                          <a:solidFill>
                            <a:schemeClr val="tx1"/>
                          </a:solidFill>
                        </a:rPr>
                        <a:t>two people</a:t>
                      </a:r>
                      <a:endParaRPr lang="en-US" sz="1600" dirty="0"/>
                    </a:p>
                  </a:txBody>
                  <a:tcPr marL="73152" marR="73152" marT="73152" marB="73152">
                    <a:lnL w="9525" cap="flat" cmpd="sng" algn="ctr">
                      <a:solidFill>
                        <a:srgbClr val="B8C6CC"/>
                      </a:solidFill>
                      <a:prstDash val="solid"/>
                      <a:round/>
                      <a:headEnd type="none" w="med" len="med"/>
                      <a:tailEnd type="none" w="med" len="med"/>
                    </a:lnL>
                    <a:lnR w="9525" cap="flat" cmpd="sng" algn="ctr">
                      <a:solidFill>
                        <a:srgbClr val="B8C6CC"/>
                      </a:solidFill>
                      <a:prstDash val="solid"/>
                      <a:round/>
                      <a:headEnd type="none" w="med" len="med"/>
                      <a:tailEnd type="none" w="med" len="med"/>
                    </a:lnR>
                    <a:lnT w="9525" cap="flat" cmpd="sng" algn="ctr">
                      <a:solidFill>
                        <a:srgbClr val="B8C6CC"/>
                      </a:solidFill>
                      <a:prstDash val="solid"/>
                      <a:round/>
                      <a:headEnd type="none" w="med" len="med"/>
                      <a:tailEnd type="none" w="med" len="med"/>
                    </a:lnT>
                    <a:lnB w="9525" cap="flat" cmpd="sng" algn="ctr">
                      <a:solidFill>
                        <a:srgbClr val="B8C6CC"/>
                      </a:solidFill>
                      <a:prstDash val="solid"/>
                      <a:round/>
                      <a:headEnd type="none" w="med" len="med"/>
                      <a:tailEnd type="none" w="med" len="med"/>
                    </a:lnB>
                  </a:tcPr>
                </a:tc>
                <a:tc>
                  <a:txBody>
                    <a:bodyPr/>
                    <a:lstStyle/>
                    <a:p>
                      <a:pPr indent="0" marL="0">
                        <a:buNone/>
                      </a:pPr>
                      <a:r>
                        <a:rPr lang="en-US" sz="1600" dirty="0">
                          <a:solidFill>
                            <a:schemeClr val="tx1"/>
                          </a:solidFill>
                        </a:rPr>
                        <a:t>a third who does not exist</a:t>
                      </a:r>
                      <a:endParaRPr lang="en-US" sz="1600" dirty="0"/>
                    </a:p>
                  </a:txBody>
                  <a:tcPr marL="73152" marR="73152" marT="73152" marB="73152">
                    <a:lnL w="9525" cap="flat" cmpd="sng" algn="ctr">
                      <a:solidFill>
                        <a:srgbClr val="B8C6CC"/>
                      </a:solidFill>
                      <a:prstDash val="solid"/>
                      <a:round/>
                      <a:headEnd type="none" w="med" len="med"/>
                      <a:tailEnd type="none" w="med" len="med"/>
                    </a:lnL>
                    <a:lnR w="9525" cap="flat" cmpd="sng" algn="ctr">
                      <a:solidFill>
                        <a:srgbClr val="B8C6CC"/>
                      </a:solidFill>
                      <a:prstDash val="solid"/>
                      <a:round/>
                      <a:headEnd type="none" w="med" len="med"/>
                      <a:tailEnd type="none" w="med" len="med"/>
                    </a:lnR>
                    <a:lnT w="9525" cap="flat" cmpd="sng" algn="ctr">
                      <a:solidFill>
                        <a:srgbClr val="B8C6CC"/>
                      </a:solidFill>
                      <a:prstDash val="solid"/>
                      <a:round/>
                      <a:headEnd type="none" w="med" len="med"/>
                      <a:tailEnd type="none" w="med" len="med"/>
                    </a:lnT>
                    <a:lnB w="9525" cap="flat" cmpd="sng" algn="ctr">
                      <a:solidFill>
                        <a:srgbClr val="B8C6CC"/>
                      </a:solidFill>
                      <a:prstDash val="solid"/>
                      <a:round/>
                      <a:headEnd type="none" w="med" len="med"/>
                      <a:tailEnd type="none" w="med" len="med"/>
                    </a:lnB>
                  </a:tcPr>
                </a:tc>
              </a:tr>
            </a:tbl>
          </a:graphicData>
        </a:graphic>
      </p:graphicFrame>
      <p:sp>
        <p:nvSpPr>
          <p:cNvPr id="5" name="Shape 2"/>
          <p:cNvSpPr/>
          <p:nvPr/>
        </p:nvSpPr>
        <p:spPr>
          <a:xfrm>
            <a:off x="7589520" y="1463040"/>
            <a:ext cx="4023360" cy="3840480"/>
          </a:xfrm>
          <a:prstGeom prst="roundRect">
            <a:avLst>
              <a:gd name="adj" fmla="val 3571"/>
            </a:avLst>
          </a:prstGeom>
          <a:solidFill>
            <a:schemeClr val="tx2"/>
          </a:solidFill>
          <a:ln/>
        </p:spPr>
      </p:sp>
      <p:sp>
        <p:nvSpPr>
          <p:cNvPr id="6" name="Text 3"/>
          <p:cNvSpPr txBox="1"/>
          <p:nvPr/>
        </p:nvSpPr>
        <p:spPr>
          <a:xfrm>
            <a:off x="7863840" y="1737360"/>
            <a:ext cx="3474720" cy="1097280"/>
          </a:xfrm>
          <a:prstGeom prst="rect">
            <a:avLst/>
          </a:prstGeom>
          <a:noFill/>
          <a:ln/>
        </p:spPr>
        <p:txBody>
          <a:bodyPr wrap="square" lIns="0" tIns="0" rIns="0" bIns="0" rtlCol="0" anchor="t"/>
          <a:lstStyle/>
          <a:p>
            <a:pPr indent="0" marL="0">
              <a:buNone/>
            </a:pPr>
            <a:r>
              <a:rPr lang="en-US" sz="2200" b="1" dirty="0">
                <a:solidFill>
                  <a:schemeClr val="bg1"/>
                </a:solidFill>
              </a:rPr>
              <a:t>Nothing in its answer said it was guessing</a:t>
            </a:r>
            <a:endParaRPr lang="en-US" sz="2200" dirty="0"/>
          </a:p>
        </p:txBody>
      </p:sp>
      <p:sp>
        <p:nvSpPr>
          <p:cNvPr id="7" name="Text 4"/>
          <p:cNvSpPr txBox="1"/>
          <p:nvPr/>
        </p:nvSpPr>
        <p:spPr>
          <a:xfrm>
            <a:off x="7863840" y="2926080"/>
            <a:ext cx="3474720" cy="2194560"/>
          </a:xfrm>
          <a:prstGeom prst="rect">
            <a:avLst/>
          </a:prstGeom>
          <a:noFill/>
          <a:ln/>
        </p:spPr>
        <p:txBody>
          <a:bodyPr wrap="square" lIns="0" tIns="0" rIns="0" bIns="0" rtlCol="0" anchor="t"/>
          <a:lstStyle/>
          <a:p>
            <a:pPr indent="0" marL="0">
              <a:buNone/>
            </a:pPr>
            <a:r>
              <a:rPr lang="en-US" sz="1600" dirty="0">
                <a:solidFill>
                  <a:schemeClr val="bg2"/>
                </a:solidFill>
              </a:rPr>
              <a:t>A missing value can be spotted. An invented one looks exactly like a real one — in a permit condition, a test result or a landowner’s address.</a:t>
            </a:r>
            <a:endParaRPr lang="en-US" sz="1600" dirty="0"/>
          </a:p>
        </p:txBody>
      </p:sp>
      <p:sp>
        <p:nvSpPr>
          <p:cNvPr id="8" name="Text 5"/>
          <p:cNvSpPr txBox="1"/>
          <p:nvPr/>
        </p:nvSpPr>
        <p:spPr>
          <a:xfrm>
            <a:off x="548640" y="4800600"/>
            <a:ext cx="6583680" cy="731520"/>
          </a:xfrm>
          <a:prstGeom prst="rect">
            <a:avLst/>
          </a:prstGeom>
          <a:noFill/>
          <a:ln/>
        </p:spPr>
        <p:txBody>
          <a:bodyPr wrap="square" lIns="0" tIns="0" rIns="0" bIns="0" rtlCol="0" anchor="t"/>
          <a:lstStyle/>
          <a:p>
            <a:pPr indent="0" marL="0">
              <a:buNone/>
            </a:pPr>
            <a:r>
              <a:rPr lang="en-US" sz="1600" dirty="0">
                <a:solidFill>
                  <a:schemeClr val="tx1"/>
                </a:solidFill>
              </a:rPr>
              <a:t>In tests, even the best AI tool got about one number in twenty wrong when reading pictures of pages.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400" b="1" dirty="0">
                <a:solidFill>
                  <a:schemeClr val="tx2"/>
                </a:solidFill>
              </a:rPr>
              <a:t>Privacy and proof are at risk too</a:t>
            </a:r>
            <a:endParaRPr lang="en-US" sz="3400" dirty="0"/>
          </a:p>
        </p:txBody>
      </p:sp>
      <p:sp>
        <p:nvSpPr>
          <p:cNvPr id="3" name="Shape 1"/>
          <p:cNvSpPr/>
          <p:nvPr/>
        </p:nvSpPr>
        <p:spPr>
          <a:xfrm>
            <a:off x="548640" y="1463040"/>
            <a:ext cx="5394960" cy="4389120"/>
          </a:xfrm>
          <a:prstGeom prst="roundRect">
            <a:avLst>
              <a:gd name="adj" fmla="val 3125"/>
            </a:avLst>
          </a:prstGeom>
          <a:solidFill>
            <a:schemeClr val="bg2"/>
          </a:solidFill>
          <a:ln/>
        </p:spPr>
      </p:sp>
      <p:pic>
        <p:nvPicPr>
          <p:cNvPr id="4" name="Image 0" descr="preencoded.png">    </p:cNvPr>
          <p:cNvPicPr>
            <a:picLocks noChangeAspect="1"/>
          </p:cNvPicPr>
          <p:nvPr/>
        </p:nvPicPr>
        <p:blipFill>
          <a:blip r:embed="rId1"/>
          <a:stretch>
            <a:fillRect/>
          </a:stretch>
        </p:blipFill>
        <p:spPr>
          <a:xfrm>
            <a:off x="868680" y="1783080"/>
            <a:ext cx="731520" cy="731520"/>
          </a:xfrm>
          <a:prstGeom prst="rect">
            <a:avLst/>
          </a:prstGeom>
        </p:spPr>
      </p:pic>
      <p:sp>
        <p:nvSpPr>
          <p:cNvPr id="5" name="Text 2"/>
          <p:cNvSpPr txBox="1"/>
          <p:nvPr/>
        </p:nvSpPr>
        <p:spPr>
          <a:xfrm>
            <a:off x="1828800" y="1828800"/>
            <a:ext cx="3931920" cy="731520"/>
          </a:xfrm>
          <a:prstGeom prst="rect">
            <a:avLst/>
          </a:prstGeom>
          <a:noFill/>
          <a:ln/>
        </p:spPr>
        <p:txBody>
          <a:bodyPr wrap="square" lIns="0" tIns="0" rIns="0" bIns="0" rtlCol="0" anchor="ctr"/>
          <a:lstStyle/>
          <a:p>
            <a:pPr indent="0" marL="0">
              <a:buNone/>
            </a:pPr>
            <a:r>
              <a:rPr lang="en-US" sz="2200" b="1" dirty="0">
                <a:solidFill>
                  <a:schemeClr val="tx2"/>
                </a:solidFill>
              </a:rPr>
              <a:t>Black boxes that hide nothing</a:t>
            </a:r>
            <a:endParaRPr lang="en-US" sz="2200" dirty="0"/>
          </a:p>
        </p:txBody>
      </p:sp>
      <p:sp>
        <p:nvSpPr>
          <p:cNvPr id="6" name="Text 3"/>
          <p:cNvSpPr txBox="1"/>
          <p:nvPr/>
        </p:nvSpPr>
        <p:spPr>
          <a:xfrm>
            <a:off x="868680" y="2743200"/>
            <a:ext cx="4754880" cy="2743200"/>
          </a:xfrm>
          <a:prstGeom prst="rect">
            <a:avLst/>
          </a:prstGeom>
          <a:noFill/>
          <a:ln/>
        </p:spPr>
        <p:txBody>
          <a:bodyPr wrap="square" lIns="0" tIns="0" rIns="0" bIns="0" rtlCol="0" anchor="t"/>
          <a:lstStyle/>
          <a:p>
            <a:pPr indent="0" marL="0">
              <a:buNone/>
            </a:pPr>
            <a:r>
              <a:rPr lang="en-US" sz="1700" dirty="0">
                <a:solidFill>
                  <a:schemeClr val="tx1"/>
                </a:solidFill>
              </a:rPr>
              <a:t>Some documents black out names with a box drawn on top. The words are still in the file — a computer reads them as if the box were not there. We found landowners’ names and addresses this way.</a:t>
            </a:r>
            <a:endParaRPr lang="en-US" sz="1700" dirty="0"/>
          </a:p>
        </p:txBody>
      </p:sp>
      <p:sp>
        <p:nvSpPr>
          <p:cNvPr id="7" name="Shape 4"/>
          <p:cNvSpPr/>
          <p:nvPr/>
        </p:nvSpPr>
        <p:spPr>
          <a:xfrm>
            <a:off x="6217920" y="1463040"/>
            <a:ext cx="5394960" cy="4389120"/>
          </a:xfrm>
          <a:prstGeom prst="roundRect">
            <a:avLst>
              <a:gd name="adj" fmla="val 3125"/>
            </a:avLst>
          </a:prstGeom>
          <a:solidFill>
            <a:schemeClr val="bg2"/>
          </a:solidFill>
          <a:ln/>
        </p:spPr>
      </p:sp>
      <p:pic>
        <p:nvPicPr>
          <p:cNvPr id="8" name="Image 1" descr="preencoded.png">    </p:cNvPr>
          <p:cNvPicPr>
            <a:picLocks noChangeAspect="1"/>
          </p:cNvPicPr>
          <p:nvPr/>
        </p:nvPicPr>
        <p:blipFill>
          <a:blip r:embed="rId2"/>
          <a:stretch>
            <a:fillRect/>
          </a:stretch>
        </p:blipFill>
        <p:spPr>
          <a:xfrm>
            <a:off x="6537960" y="1783080"/>
            <a:ext cx="731520" cy="731520"/>
          </a:xfrm>
          <a:prstGeom prst="rect">
            <a:avLst/>
          </a:prstGeom>
        </p:spPr>
      </p:pic>
      <p:sp>
        <p:nvSpPr>
          <p:cNvPr id="9" name="Text 5"/>
          <p:cNvSpPr txBox="1"/>
          <p:nvPr/>
        </p:nvSpPr>
        <p:spPr>
          <a:xfrm>
            <a:off x="7498080" y="1828800"/>
            <a:ext cx="3931920" cy="731520"/>
          </a:xfrm>
          <a:prstGeom prst="rect">
            <a:avLst/>
          </a:prstGeom>
          <a:noFill/>
          <a:ln/>
        </p:spPr>
        <p:txBody>
          <a:bodyPr wrap="square" lIns="0" tIns="0" rIns="0" bIns="0" rtlCol="0" anchor="ctr"/>
          <a:lstStyle/>
          <a:p>
            <a:pPr indent="0" marL="0">
              <a:buNone/>
            </a:pPr>
            <a:r>
              <a:rPr lang="en-US" sz="2200" b="1" dirty="0">
                <a:solidFill>
                  <a:schemeClr val="tx2"/>
                </a:solidFill>
              </a:rPr>
              <a:t>No way to prove a file is the original</a:t>
            </a:r>
            <a:endParaRPr lang="en-US" sz="2200" dirty="0"/>
          </a:p>
        </p:txBody>
      </p:sp>
      <p:sp>
        <p:nvSpPr>
          <p:cNvPr id="10" name="Text 6"/>
          <p:cNvSpPr txBox="1"/>
          <p:nvPr/>
        </p:nvSpPr>
        <p:spPr>
          <a:xfrm>
            <a:off x="6537960" y="2743200"/>
            <a:ext cx="4754880" cy="2743200"/>
          </a:xfrm>
          <a:prstGeom prst="rect">
            <a:avLst/>
          </a:prstGeom>
          <a:noFill/>
          <a:ln/>
        </p:spPr>
        <p:txBody>
          <a:bodyPr wrap="square" lIns="0" tIns="0" rIns="0" bIns="0" rtlCol="0" anchor="t"/>
          <a:lstStyle/>
          <a:p>
            <a:pPr indent="0" marL="0">
              <a:buNone/>
            </a:pPr>
            <a:r>
              <a:rPr lang="en-US" sz="1700" dirty="0">
                <a:solidFill>
                  <a:schemeClr val="tx1"/>
                </a:solidFill>
              </a:rPr>
              <a:t>Our record carries no digital fingerprint for any file, and the official signature is still a paper receipt sent by mail. Fewer than 1 document in 100 is signed digitally.</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400" b="1" dirty="0">
                <a:solidFill>
                  <a:schemeClr val="tx2"/>
                </a:solidFill>
              </a:rPr>
              <a:t>Why it happens: habits from the paper era</a:t>
            </a:r>
            <a:endParaRPr lang="en-US" sz="3400" dirty="0"/>
          </a:p>
        </p:txBody>
      </p:sp>
      <p:sp>
        <p:nvSpPr>
          <p:cNvPr id="3" name="Shape 1"/>
          <p:cNvSpPr/>
          <p:nvPr/>
        </p:nvSpPr>
        <p:spPr>
          <a:xfrm>
            <a:off x="1005840" y="1645920"/>
            <a:ext cx="1005840" cy="1005840"/>
          </a:xfrm>
          <a:prstGeom prst="ellipse">
            <a:avLst/>
          </a:prstGeom>
          <a:solidFill>
            <a:schemeClr val="tx2"/>
          </a:solidFill>
          <a:ln/>
        </p:spPr>
      </p:sp>
      <p:pic>
        <p:nvPicPr>
          <p:cNvPr id="4" name="Image 0" descr="preencoded.png">    </p:cNvPr>
          <p:cNvPicPr>
            <a:picLocks noChangeAspect="1"/>
          </p:cNvPicPr>
          <p:nvPr/>
        </p:nvPicPr>
        <p:blipFill>
          <a:blip r:embed="rId1"/>
          <a:stretch>
            <a:fillRect/>
          </a:stretch>
        </p:blipFill>
        <p:spPr>
          <a:xfrm>
            <a:off x="1261872" y="1901952"/>
            <a:ext cx="502920" cy="502920"/>
          </a:xfrm>
          <a:prstGeom prst="rect">
            <a:avLst/>
          </a:prstGeom>
        </p:spPr>
      </p:pic>
      <p:sp>
        <p:nvSpPr>
          <p:cNvPr id="5" name="Text 2"/>
          <p:cNvSpPr txBox="1"/>
          <p:nvPr/>
        </p:nvSpPr>
        <p:spPr>
          <a:xfrm>
            <a:off x="548640" y="2788920"/>
            <a:ext cx="1920240" cy="640080"/>
          </a:xfrm>
          <a:prstGeom prst="rect">
            <a:avLst/>
          </a:prstGeom>
          <a:noFill/>
          <a:ln/>
        </p:spPr>
        <p:txBody>
          <a:bodyPr wrap="square" lIns="0" tIns="0" rIns="0" bIns="0" rtlCol="0" anchor="t"/>
          <a:lstStyle/>
          <a:p>
            <a:pPr algn="ctr" indent="0" marL="0">
              <a:buNone/>
            </a:pPr>
            <a:r>
              <a:rPr lang="en-US" sz="1600" b="1" dirty="0">
                <a:solidFill>
                  <a:schemeClr val="tx2"/>
                </a:solidFill>
              </a:rPr>
              <a:t>Written on a computer</a:t>
            </a:r>
            <a:endParaRPr lang="en-US" sz="1600" dirty="0"/>
          </a:p>
        </p:txBody>
      </p:sp>
      <p:sp>
        <p:nvSpPr>
          <p:cNvPr id="6" name="Shape 3"/>
          <p:cNvSpPr/>
          <p:nvPr/>
        </p:nvSpPr>
        <p:spPr>
          <a:xfrm>
            <a:off x="2148840" y="2011680"/>
            <a:ext cx="502920" cy="274320"/>
          </a:xfrm>
          <a:prstGeom prst="rightArrow">
            <a:avLst/>
          </a:prstGeom>
          <a:solidFill>
            <a:schemeClr val="accent5"/>
          </a:solidFill>
          <a:ln/>
        </p:spPr>
      </p:sp>
      <p:sp>
        <p:nvSpPr>
          <p:cNvPr id="7" name="Shape 4"/>
          <p:cNvSpPr/>
          <p:nvPr/>
        </p:nvSpPr>
        <p:spPr>
          <a:xfrm>
            <a:off x="3291840" y="1645920"/>
            <a:ext cx="1005840" cy="1005840"/>
          </a:xfrm>
          <a:prstGeom prst="ellipse">
            <a:avLst/>
          </a:prstGeom>
          <a:solidFill>
            <a:schemeClr val="tx2"/>
          </a:solidFill>
          <a:ln/>
        </p:spPr>
      </p:sp>
      <p:pic>
        <p:nvPicPr>
          <p:cNvPr id="8" name="Image 1" descr="preencoded.png">    </p:cNvPr>
          <p:cNvPicPr>
            <a:picLocks noChangeAspect="1"/>
          </p:cNvPicPr>
          <p:nvPr/>
        </p:nvPicPr>
        <p:blipFill>
          <a:blip r:embed="rId2"/>
          <a:stretch>
            <a:fillRect/>
          </a:stretch>
        </p:blipFill>
        <p:spPr>
          <a:xfrm>
            <a:off x="3547872" y="1901952"/>
            <a:ext cx="502920" cy="502920"/>
          </a:xfrm>
          <a:prstGeom prst="rect">
            <a:avLst/>
          </a:prstGeom>
        </p:spPr>
      </p:pic>
      <p:sp>
        <p:nvSpPr>
          <p:cNvPr id="9" name="Text 5"/>
          <p:cNvSpPr txBox="1"/>
          <p:nvPr/>
        </p:nvSpPr>
        <p:spPr>
          <a:xfrm>
            <a:off x="2834640" y="2788920"/>
            <a:ext cx="1920240" cy="640080"/>
          </a:xfrm>
          <a:prstGeom prst="rect">
            <a:avLst/>
          </a:prstGeom>
          <a:noFill/>
          <a:ln/>
        </p:spPr>
        <p:txBody>
          <a:bodyPr wrap="square" lIns="0" tIns="0" rIns="0" bIns="0" rtlCol="0" anchor="t"/>
          <a:lstStyle/>
          <a:p>
            <a:pPr algn="ctr" indent="0" marL="0">
              <a:buNone/>
            </a:pPr>
            <a:r>
              <a:rPr lang="en-US" sz="1600" b="1" dirty="0">
                <a:solidFill>
                  <a:schemeClr val="tx2"/>
                </a:solidFill>
              </a:rPr>
              <a:t>Printed to sign</a:t>
            </a:r>
            <a:endParaRPr lang="en-US" sz="1600" dirty="0"/>
          </a:p>
        </p:txBody>
      </p:sp>
      <p:sp>
        <p:nvSpPr>
          <p:cNvPr id="10" name="Shape 6"/>
          <p:cNvSpPr/>
          <p:nvPr/>
        </p:nvSpPr>
        <p:spPr>
          <a:xfrm>
            <a:off x="4434840" y="2011680"/>
            <a:ext cx="502920" cy="274320"/>
          </a:xfrm>
          <a:prstGeom prst="rightArrow">
            <a:avLst/>
          </a:prstGeom>
          <a:solidFill>
            <a:schemeClr val="accent5"/>
          </a:solidFill>
          <a:ln/>
        </p:spPr>
      </p:sp>
      <p:sp>
        <p:nvSpPr>
          <p:cNvPr id="11" name="Shape 7"/>
          <p:cNvSpPr/>
          <p:nvPr/>
        </p:nvSpPr>
        <p:spPr>
          <a:xfrm>
            <a:off x="5577840" y="1645920"/>
            <a:ext cx="1005840" cy="1005840"/>
          </a:xfrm>
          <a:prstGeom prst="ellipse">
            <a:avLst/>
          </a:prstGeom>
          <a:solidFill>
            <a:schemeClr val="tx2"/>
          </a:solidFill>
          <a:ln/>
        </p:spPr>
      </p:sp>
      <p:pic>
        <p:nvPicPr>
          <p:cNvPr id="12" name="Image 2" descr="preencoded.png">    </p:cNvPr>
          <p:cNvPicPr>
            <a:picLocks noChangeAspect="1"/>
          </p:cNvPicPr>
          <p:nvPr/>
        </p:nvPicPr>
        <p:blipFill>
          <a:blip r:embed="rId3"/>
          <a:stretch>
            <a:fillRect/>
          </a:stretch>
        </p:blipFill>
        <p:spPr>
          <a:xfrm>
            <a:off x="5833872" y="1901952"/>
            <a:ext cx="502920" cy="502920"/>
          </a:xfrm>
          <a:prstGeom prst="rect">
            <a:avLst/>
          </a:prstGeom>
        </p:spPr>
      </p:pic>
      <p:sp>
        <p:nvSpPr>
          <p:cNvPr id="13" name="Text 8"/>
          <p:cNvSpPr txBox="1"/>
          <p:nvPr/>
        </p:nvSpPr>
        <p:spPr>
          <a:xfrm>
            <a:off x="5120640" y="2788920"/>
            <a:ext cx="1920240" cy="640080"/>
          </a:xfrm>
          <a:prstGeom prst="rect">
            <a:avLst/>
          </a:prstGeom>
          <a:noFill/>
          <a:ln/>
        </p:spPr>
        <p:txBody>
          <a:bodyPr wrap="square" lIns="0" tIns="0" rIns="0" bIns="0" rtlCol="0" anchor="t"/>
          <a:lstStyle/>
          <a:p>
            <a:pPr algn="ctr" indent="0" marL="0">
              <a:buNone/>
            </a:pPr>
            <a:r>
              <a:rPr lang="en-US" sz="1600" b="1" dirty="0">
                <a:solidFill>
                  <a:schemeClr val="tx2"/>
                </a:solidFill>
              </a:rPr>
              <a:t>Signed in ink</a:t>
            </a:r>
            <a:endParaRPr lang="en-US" sz="1600" dirty="0"/>
          </a:p>
        </p:txBody>
      </p:sp>
      <p:sp>
        <p:nvSpPr>
          <p:cNvPr id="14" name="Shape 9"/>
          <p:cNvSpPr/>
          <p:nvPr/>
        </p:nvSpPr>
        <p:spPr>
          <a:xfrm>
            <a:off x="6720840" y="2011680"/>
            <a:ext cx="502920" cy="274320"/>
          </a:xfrm>
          <a:prstGeom prst="rightArrow">
            <a:avLst/>
          </a:prstGeom>
          <a:solidFill>
            <a:schemeClr val="accent5"/>
          </a:solidFill>
          <a:ln/>
        </p:spPr>
      </p:sp>
      <p:sp>
        <p:nvSpPr>
          <p:cNvPr id="15" name="Shape 10"/>
          <p:cNvSpPr/>
          <p:nvPr/>
        </p:nvSpPr>
        <p:spPr>
          <a:xfrm>
            <a:off x="7863840" y="1645920"/>
            <a:ext cx="1005840" cy="1005840"/>
          </a:xfrm>
          <a:prstGeom prst="ellipse">
            <a:avLst/>
          </a:prstGeom>
          <a:solidFill>
            <a:schemeClr val="tx2"/>
          </a:solidFill>
          <a:ln/>
        </p:spPr>
      </p:sp>
      <p:pic>
        <p:nvPicPr>
          <p:cNvPr id="16" name="Image 3" descr="preencoded.png">    </p:cNvPr>
          <p:cNvPicPr>
            <a:picLocks noChangeAspect="1"/>
          </p:cNvPicPr>
          <p:nvPr/>
        </p:nvPicPr>
        <p:blipFill>
          <a:blip r:embed="rId4"/>
          <a:stretch>
            <a:fillRect/>
          </a:stretch>
        </p:blipFill>
        <p:spPr>
          <a:xfrm>
            <a:off x="8119872" y="1901952"/>
            <a:ext cx="502920" cy="502920"/>
          </a:xfrm>
          <a:prstGeom prst="rect">
            <a:avLst/>
          </a:prstGeom>
        </p:spPr>
      </p:pic>
      <p:sp>
        <p:nvSpPr>
          <p:cNvPr id="17" name="Text 11"/>
          <p:cNvSpPr txBox="1"/>
          <p:nvPr/>
        </p:nvSpPr>
        <p:spPr>
          <a:xfrm>
            <a:off x="7406640" y="2788920"/>
            <a:ext cx="1920240" cy="640080"/>
          </a:xfrm>
          <a:prstGeom prst="rect">
            <a:avLst/>
          </a:prstGeom>
          <a:noFill/>
          <a:ln/>
        </p:spPr>
        <p:txBody>
          <a:bodyPr wrap="square" lIns="0" tIns="0" rIns="0" bIns="0" rtlCol="0" anchor="t"/>
          <a:lstStyle/>
          <a:p>
            <a:pPr algn="ctr" indent="0" marL="0">
              <a:buNone/>
            </a:pPr>
            <a:r>
              <a:rPr lang="en-US" sz="1600" b="1" dirty="0">
                <a:solidFill>
                  <a:schemeClr val="tx2"/>
                </a:solidFill>
              </a:rPr>
              <a:t>Scanned back</a:t>
            </a:r>
            <a:endParaRPr lang="en-US" sz="1600" dirty="0"/>
          </a:p>
        </p:txBody>
      </p:sp>
      <p:sp>
        <p:nvSpPr>
          <p:cNvPr id="18" name="Shape 12"/>
          <p:cNvSpPr/>
          <p:nvPr/>
        </p:nvSpPr>
        <p:spPr>
          <a:xfrm>
            <a:off x="9006840" y="2011680"/>
            <a:ext cx="502920" cy="274320"/>
          </a:xfrm>
          <a:prstGeom prst="rightArrow">
            <a:avLst/>
          </a:prstGeom>
          <a:solidFill>
            <a:schemeClr val="accent5"/>
          </a:solidFill>
          <a:ln/>
        </p:spPr>
      </p:sp>
      <p:sp>
        <p:nvSpPr>
          <p:cNvPr id="19" name="Shape 13"/>
          <p:cNvSpPr/>
          <p:nvPr/>
        </p:nvSpPr>
        <p:spPr>
          <a:xfrm>
            <a:off x="10149840" y="1645920"/>
            <a:ext cx="1005840" cy="1005840"/>
          </a:xfrm>
          <a:prstGeom prst="ellipse">
            <a:avLst/>
          </a:prstGeom>
          <a:solidFill>
            <a:schemeClr val="accent1"/>
          </a:solidFill>
          <a:ln/>
        </p:spPr>
      </p:sp>
      <p:pic>
        <p:nvPicPr>
          <p:cNvPr id="20" name="Image 4" descr="preencoded.png">    </p:cNvPr>
          <p:cNvPicPr>
            <a:picLocks noChangeAspect="1"/>
          </p:cNvPicPr>
          <p:nvPr/>
        </p:nvPicPr>
        <p:blipFill>
          <a:blip r:embed="rId5"/>
          <a:stretch>
            <a:fillRect/>
          </a:stretch>
        </p:blipFill>
        <p:spPr>
          <a:xfrm>
            <a:off x="10405872" y="1901952"/>
            <a:ext cx="502920" cy="502920"/>
          </a:xfrm>
          <a:prstGeom prst="rect">
            <a:avLst/>
          </a:prstGeom>
        </p:spPr>
      </p:pic>
      <p:sp>
        <p:nvSpPr>
          <p:cNvPr id="21" name="Text 14"/>
          <p:cNvSpPr txBox="1"/>
          <p:nvPr/>
        </p:nvSpPr>
        <p:spPr>
          <a:xfrm>
            <a:off x="9692640" y="2788920"/>
            <a:ext cx="1920240" cy="640080"/>
          </a:xfrm>
          <a:prstGeom prst="rect">
            <a:avLst/>
          </a:prstGeom>
          <a:noFill/>
          <a:ln/>
        </p:spPr>
        <p:txBody>
          <a:bodyPr wrap="square" lIns="0" tIns="0" rIns="0" bIns="0" rtlCol="0" anchor="t"/>
          <a:lstStyle/>
          <a:p>
            <a:pPr algn="ctr" indent="0" marL="0">
              <a:buNone/>
            </a:pPr>
            <a:r>
              <a:rPr lang="en-US" sz="1600" b="1" dirty="0">
                <a:solidFill>
                  <a:schemeClr val="tx2"/>
                </a:solidFill>
              </a:rPr>
              <a:t>Filed as a picture</a:t>
            </a:r>
            <a:endParaRPr lang="en-US" sz="1600" dirty="0"/>
          </a:p>
        </p:txBody>
      </p:sp>
      <p:sp>
        <p:nvSpPr>
          <p:cNvPr id="22" name="Shape 15"/>
          <p:cNvSpPr/>
          <p:nvPr/>
        </p:nvSpPr>
        <p:spPr>
          <a:xfrm>
            <a:off x="548640" y="3840480"/>
            <a:ext cx="11064240" cy="2011680"/>
          </a:xfrm>
          <a:prstGeom prst="roundRect">
            <a:avLst>
              <a:gd name="adj" fmla="val 6818"/>
            </a:avLst>
          </a:prstGeom>
          <a:solidFill>
            <a:schemeClr val="bg2"/>
          </a:solidFill>
          <a:ln/>
        </p:spPr>
      </p:sp>
      <p:sp>
        <p:nvSpPr>
          <p:cNvPr id="23" name="Text 16"/>
          <p:cNvSpPr txBox="1"/>
          <p:nvPr/>
        </p:nvSpPr>
        <p:spPr>
          <a:xfrm>
            <a:off x="868680" y="4069080"/>
            <a:ext cx="10424160" cy="1645920"/>
          </a:xfrm>
          <a:prstGeom prst="rect">
            <a:avLst/>
          </a:prstGeom>
          <a:noFill/>
          <a:ln/>
        </p:spPr>
        <p:txBody>
          <a:bodyPr wrap="square" lIns="0" tIns="0" rIns="0" bIns="0" rtlCol="0" anchor="t"/>
          <a:lstStyle/>
          <a:p>
            <a:pPr indent="0" marL="0">
              <a:buNone/>
            </a:pPr>
            <a:r>
              <a:rPr lang="en-US" sz="1800" dirty="0">
                <a:solidFill>
                  <a:schemeClr val="tx1"/>
                </a:solidFill>
              </a:rPr>
              <a:t>Nearly half of the unreadable documents are letters and sworn statements printed just to be signed. Tables and maps are filed as pictures too: our filing system accepts only PDFs, and map data still travels by e-mail or USB stick.</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400" b="1" dirty="0">
                <a:solidFill>
                  <a:schemeClr val="tx2"/>
                </a:solidFill>
              </a:rPr>
              <a:t>Ask for files a computer can read</a:t>
            </a:r>
            <a:endParaRPr lang="en-US" sz="3400" dirty="0"/>
          </a:p>
        </p:txBody>
      </p:sp>
      <p:sp>
        <p:nvSpPr>
          <p:cNvPr id="3" name="Shape 1"/>
          <p:cNvSpPr/>
          <p:nvPr/>
        </p:nvSpPr>
        <p:spPr>
          <a:xfrm>
            <a:off x="548640" y="1463040"/>
            <a:ext cx="777240" cy="777240"/>
          </a:xfrm>
          <a:prstGeom prst="ellipse">
            <a:avLst/>
          </a:prstGeom>
          <a:solidFill>
            <a:schemeClr val="tx2"/>
          </a:solidFill>
          <a:ln/>
        </p:spPr>
      </p:sp>
      <p:pic>
        <p:nvPicPr>
          <p:cNvPr id="4" name="Image 0" descr="preencoded.png">    </p:cNvPr>
          <p:cNvPicPr>
            <a:picLocks noChangeAspect="1"/>
          </p:cNvPicPr>
          <p:nvPr/>
        </p:nvPicPr>
        <p:blipFill>
          <a:blip r:embed="rId1"/>
          <a:stretch>
            <a:fillRect/>
          </a:stretch>
        </p:blipFill>
        <p:spPr>
          <a:xfrm>
            <a:off x="731520" y="1645920"/>
            <a:ext cx="411480" cy="411480"/>
          </a:xfrm>
          <a:prstGeom prst="rect">
            <a:avLst/>
          </a:prstGeom>
        </p:spPr>
      </p:pic>
      <p:sp>
        <p:nvSpPr>
          <p:cNvPr id="5" name="Text 2"/>
          <p:cNvSpPr txBox="1"/>
          <p:nvPr/>
        </p:nvSpPr>
        <p:spPr>
          <a:xfrm>
            <a:off x="1600200" y="1417320"/>
            <a:ext cx="9966960" cy="411480"/>
          </a:xfrm>
          <a:prstGeom prst="rect">
            <a:avLst/>
          </a:prstGeom>
          <a:noFill/>
          <a:ln/>
        </p:spPr>
        <p:txBody>
          <a:bodyPr wrap="square" lIns="0" tIns="0" rIns="0" bIns="0" rtlCol="0" anchor="ctr"/>
          <a:lstStyle/>
          <a:p>
            <a:pPr indent="0" marL="0">
              <a:buNone/>
            </a:pPr>
            <a:r>
              <a:rPr lang="en-US" sz="2000" b="1" dirty="0">
                <a:solidFill>
                  <a:schemeClr val="tx2"/>
                </a:solidFill>
              </a:rPr>
              <a:t>Save as PDF — do not print and scan</a:t>
            </a:r>
            <a:endParaRPr lang="en-US" sz="2000" dirty="0"/>
          </a:p>
        </p:txBody>
      </p:sp>
      <p:sp>
        <p:nvSpPr>
          <p:cNvPr id="6" name="Text 3"/>
          <p:cNvSpPr txBox="1"/>
          <p:nvPr/>
        </p:nvSpPr>
        <p:spPr>
          <a:xfrm>
            <a:off x="1600200" y="1828800"/>
            <a:ext cx="9966960" cy="502920"/>
          </a:xfrm>
          <a:prstGeom prst="rect">
            <a:avLst/>
          </a:prstGeom>
          <a:noFill/>
          <a:ln/>
        </p:spPr>
        <p:txBody>
          <a:bodyPr wrap="square" lIns="0" tIns="0" rIns="0" bIns="0" rtlCol="0" anchor="t"/>
          <a:lstStyle/>
          <a:p>
            <a:pPr indent="0" marL="0">
              <a:buNone/>
            </a:pPr>
            <a:r>
              <a:rPr lang="en-US" sz="1600" dirty="0">
                <a:solidFill>
                  <a:schemeClr val="tx1"/>
                </a:solidFill>
              </a:rPr>
              <a:t>Filers keep their documents digital from start to finish.</a:t>
            </a:r>
            <a:endParaRPr lang="en-US" sz="1600" dirty="0"/>
          </a:p>
        </p:txBody>
      </p:sp>
      <p:sp>
        <p:nvSpPr>
          <p:cNvPr id="7" name="Shape 4"/>
          <p:cNvSpPr/>
          <p:nvPr/>
        </p:nvSpPr>
        <p:spPr>
          <a:xfrm>
            <a:off x="548640" y="2423160"/>
            <a:ext cx="777240" cy="777240"/>
          </a:xfrm>
          <a:prstGeom prst="ellipse">
            <a:avLst/>
          </a:prstGeom>
          <a:solidFill>
            <a:schemeClr val="tx2"/>
          </a:solidFill>
          <a:ln/>
        </p:spPr>
      </p:sp>
      <p:pic>
        <p:nvPicPr>
          <p:cNvPr id="8" name="Image 1" descr="preencoded.png">    </p:cNvPr>
          <p:cNvPicPr>
            <a:picLocks noChangeAspect="1"/>
          </p:cNvPicPr>
          <p:nvPr/>
        </p:nvPicPr>
        <p:blipFill>
          <a:blip r:embed="rId2"/>
          <a:stretch>
            <a:fillRect/>
          </a:stretch>
        </p:blipFill>
        <p:spPr>
          <a:xfrm>
            <a:off x="731520" y="2606040"/>
            <a:ext cx="411480" cy="411480"/>
          </a:xfrm>
          <a:prstGeom prst="rect">
            <a:avLst/>
          </a:prstGeom>
        </p:spPr>
      </p:pic>
      <p:sp>
        <p:nvSpPr>
          <p:cNvPr id="9" name="Text 5"/>
          <p:cNvSpPr txBox="1"/>
          <p:nvPr/>
        </p:nvSpPr>
        <p:spPr>
          <a:xfrm>
            <a:off x="1600200" y="2377440"/>
            <a:ext cx="9966960" cy="411480"/>
          </a:xfrm>
          <a:prstGeom prst="rect">
            <a:avLst/>
          </a:prstGeom>
          <a:noFill/>
          <a:ln/>
        </p:spPr>
        <p:txBody>
          <a:bodyPr wrap="square" lIns="0" tIns="0" rIns="0" bIns="0" rtlCol="0" anchor="ctr"/>
          <a:lstStyle/>
          <a:p>
            <a:pPr indent="0" marL="0">
              <a:buNone/>
            </a:pPr>
            <a:r>
              <a:rPr lang="en-US" sz="2000" b="1" dirty="0">
                <a:solidFill>
                  <a:schemeClr val="tx2"/>
                </a:solidFill>
              </a:rPr>
              <a:t>Sign digitally</a:t>
            </a:r>
            <a:endParaRPr lang="en-US" sz="2000" dirty="0"/>
          </a:p>
        </p:txBody>
      </p:sp>
      <p:sp>
        <p:nvSpPr>
          <p:cNvPr id="10" name="Text 6"/>
          <p:cNvSpPr txBox="1"/>
          <p:nvPr/>
        </p:nvSpPr>
        <p:spPr>
          <a:xfrm>
            <a:off x="1600200" y="2788920"/>
            <a:ext cx="9966960" cy="502920"/>
          </a:xfrm>
          <a:prstGeom prst="rect">
            <a:avLst/>
          </a:prstGeom>
          <a:noFill/>
          <a:ln/>
        </p:spPr>
        <p:txBody>
          <a:bodyPr wrap="square" lIns="0" tIns="0" rIns="0" bIns="0" rtlCol="0" anchor="t"/>
          <a:lstStyle/>
          <a:p>
            <a:pPr indent="0" marL="0">
              <a:buNone/>
            </a:pPr>
            <a:r>
              <a:rPr lang="en-US" sz="1600" dirty="0">
                <a:solidFill>
                  <a:schemeClr val="tx1"/>
                </a:solidFill>
              </a:rPr>
              <a:t>Including sworn statements, so signing no longer turns documents into pictures.</a:t>
            </a:r>
            <a:endParaRPr lang="en-US" sz="1600" dirty="0"/>
          </a:p>
        </p:txBody>
      </p:sp>
      <p:sp>
        <p:nvSpPr>
          <p:cNvPr id="11" name="Shape 7"/>
          <p:cNvSpPr/>
          <p:nvPr/>
        </p:nvSpPr>
        <p:spPr>
          <a:xfrm>
            <a:off x="548640" y="3383280"/>
            <a:ext cx="777240" cy="777240"/>
          </a:xfrm>
          <a:prstGeom prst="ellipse">
            <a:avLst/>
          </a:prstGeom>
          <a:solidFill>
            <a:schemeClr val="tx2"/>
          </a:solidFill>
          <a:ln/>
        </p:spPr>
      </p:sp>
      <p:pic>
        <p:nvPicPr>
          <p:cNvPr id="12" name="Image 2" descr="preencoded.png">    </p:cNvPr>
          <p:cNvPicPr>
            <a:picLocks noChangeAspect="1"/>
          </p:cNvPicPr>
          <p:nvPr/>
        </p:nvPicPr>
        <p:blipFill>
          <a:blip r:embed="rId3"/>
          <a:stretch>
            <a:fillRect/>
          </a:stretch>
        </p:blipFill>
        <p:spPr>
          <a:xfrm>
            <a:off x="731520" y="3566160"/>
            <a:ext cx="411480" cy="411480"/>
          </a:xfrm>
          <a:prstGeom prst="rect">
            <a:avLst/>
          </a:prstGeom>
        </p:spPr>
      </p:pic>
      <p:sp>
        <p:nvSpPr>
          <p:cNvPr id="13" name="Text 8"/>
          <p:cNvSpPr txBox="1"/>
          <p:nvPr/>
        </p:nvSpPr>
        <p:spPr>
          <a:xfrm>
            <a:off x="1600200" y="3337560"/>
            <a:ext cx="9966960" cy="411480"/>
          </a:xfrm>
          <a:prstGeom prst="rect">
            <a:avLst/>
          </a:prstGeom>
          <a:noFill/>
          <a:ln/>
        </p:spPr>
        <p:txBody>
          <a:bodyPr wrap="square" lIns="0" tIns="0" rIns="0" bIns="0" rtlCol="0" anchor="ctr"/>
          <a:lstStyle/>
          <a:p>
            <a:pPr indent="0" marL="0">
              <a:buNone/>
            </a:pPr>
            <a:r>
              <a:rPr lang="en-US" sz="2000" b="1" dirty="0">
                <a:solidFill>
                  <a:schemeClr val="tx2"/>
                </a:solidFill>
              </a:rPr>
              <a:t>Send data as data</a:t>
            </a:r>
            <a:endParaRPr lang="en-US" sz="2000" dirty="0"/>
          </a:p>
        </p:txBody>
      </p:sp>
      <p:sp>
        <p:nvSpPr>
          <p:cNvPr id="14" name="Text 9"/>
          <p:cNvSpPr txBox="1"/>
          <p:nvPr/>
        </p:nvSpPr>
        <p:spPr>
          <a:xfrm>
            <a:off x="1600200" y="3749040"/>
            <a:ext cx="9966960" cy="502920"/>
          </a:xfrm>
          <a:prstGeom prst="rect">
            <a:avLst/>
          </a:prstGeom>
          <a:noFill/>
          <a:ln/>
        </p:spPr>
        <p:txBody>
          <a:bodyPr wrap="square" lIns="0" tIns="0" rIns="0" bIns="0" rtlCol="0" anchor="t"/>
          <a:lstStyle/>
          <a:p>
            <a:pPr indent="0" marL="0">
              <a:buNone/>
            </a:pPr>
            <a:r>
              <a:rPr lang="en-US" sz="1600" dirty="0">
                <a:solidFill>
                  <a:schemeClr val="tx1"/>
                </a:solidFill>
              </a:rPr>
              <a:t>Tables as spreadsheets and maps as map files, alongside the document.</a:t>
            </a:r>
            <a:endParaRPr lang="en-US" sz="1600" dirty="0"/>
          </a:p>
        </p:txBody>
      </p:sp>
      <p:sp>
        <p:nvSpPr>
          <p:cNvPr id="15" name="Shape 10"/>
          <p:cNvSpPr/>
          <p:nvPr/>
        </p:nvSpPr>
        <p:spPr>
          <a:xfrm>
            <a:off x="548640" y="4343400"/>
            <a:ext cx="777240" cy="777240"/>
          </a:xfrm>
          <a:prstGeom prst="ellipse">
            <a:avLst/>
          </a:prstGeom>
          <a:solidFill>
            <a:schemeClr val="tx2"/>
          </a:solidFill>
          <a:ln/>
        </p:spPr>
      </p:sp>
      <p:pic>
        <p:nvPicPr>
          <p:cNvPr id="16" name="Image 3" descr="preencoded.png">    </p:cNvPr>
          <p:cNvPicPr>
            <a:picLocks noChangeAspect="1"/>
          </p:cNvPicPr>
          <p:nvPr/>
        </p:nvPicPr>
        <p:blipFill>
          <a:blip r:embed="rId4"/>
          <a:stretch>
            <a:fillRect/>
          </a:stretch>
        </p:blipFill>
        <p:spPr>
          <a:xfrm>
            <a:off x="731520" y="4526280"/>
            <a:ext cx="411480" cy="411480"/>
          </a:xfrm>
          <a:prstGeom prst="rect">
            <a:avLst/>
          </a:prstGeom>
        </p:spPr>
      </p:pic>
      <p:sp>
        <p:nvSpPr>
          <p:cNvPr id="17" name="Text 11"/>
          <p:cNvSpPr txBox="1"/>
          <p:nvPr/>
        </p:nvSpPr>
        <p:spPr>
          <a:xfrm>
            <a:off x="1600200" y="4297680"/>
            <a:ext cx="9966960" cy="411480"/>
          </a:xfrm>
          <a:prstGeom prst="rect">
            <a:avLst/>
          </a:prstGeom>
          <a:noFill/>
          <a:ln/>
        </p:spPr>
        <p:txBody>
          <a:bodyPr wrap="square" lIns="0" tIns="0" rIns="0" bIns="0" rtlCol="0" anchor="ctr"/>
          <a:lstStyle/>
          <a:p>
            <a:pPr indent="0" marL="0">
              <a:buNone/>
            </a:pPr>
            <a:r>
              <a:rPr lang="en-US" sz="2000" b="1" dirty="0">
                <a:solidFill>
                  <a:schemeClr val="tx2"/>
                </a:solidFill>
              </a:rPr>
              <a:t>Redact properly</a:t>
            </a:r>
            <a:endParaRPr lang="en-US" sz="2000" dirty="0"/>
          </a:p>
        </p:txBody>
      </p:sp>
      <p:sp>
        <p:nvSpPr>
          <p:cNvPr id="18" name="Text 12"/>
          <p:cNvSpPr txBox="1"/>
          <p:nvPr/>
        </p:nvSpPr>
        <p:spPr>
          <a:xfrm>
            <a:off x="1600200" y="4709160"/>
            <a:ext cx="9966960" cy="502920"/>
          </a:xfrm>
          <a:prstGeom prst="rect">
            <a:avLst/>
          </a:prstGeom>
          <a:noFill/>
          <a:ln/>
        </p:spPr>
        <p:txBody>
          <a:bodyPr wrap="square" lIns="0" tIns="0" rIns="0" bIns="0" rtlCol="0" anchor="t"/>
          <a:lstStyle/>
          <a:p>
            <a:pPr indent="0" marL="0">
              <a:buNone/>
            </a:pPr>
            <a:r>
              <a:rPr lang="en-US" sz="1600" dirty="0">
                <a:solidFill>
                  <a:schemeClr val="tx1"/>
                </a:solidFill>
              </a:rPr>
              <a:t>Use tools that remove the words, and say what was withheld.</a:t>
            </a:r>
            <a:endParaRPr lang="en-US" sz="1600" dirty="0"/>
          </a:p>
        </p:txBody>
      </p:sp>
      <p:sp>
        <p:nvSpPr>
          <p:cNvPr id="19" name="Shape 13"/>
          <p:cNvSpPr/>
          <p:nvPr/>
        </p:nvSpPr>
        <p:spPr>
          <a:xfrm>
            <a:off x="548640" y="5303520"/>
            <a:ext cx="777240" cy="777240"/>
          </a:xfrm>
          <a:prstGeom prst="ellipse">
            <a:avLst/>
          </a:prstGeom>
          <a:solidFill>
            <a:schemeClr val="tx2"/>
          </a:solidFill>
          <a:ln/>
        </p:spPr>
      </p:sp>
      <p:pic>
        <p:nvPicPr>
          <p:cNvPr id="20" name="Image 4" descr="preencoded.png">    </p:cNvPr>
          <p:cNvPicPr>
            <a:picLocks noChangeAspect="1"/>
          </p:cNvPicPr>
          <p:nvPr/>
        </p:nvPicPr>
        <p:blipFill>
          <a:blip r:embed="rId5"/>
          <a:stretch>
            <a:fillRect/>
          </a:stretch>
        </p:blipFill>
        <p:spPr>
          <a:xfrm>
            <a:off x="731520" y="5486400"/>
            <a:ext cx="411480" cy="411480"/>
          </a:xfrm>
          <a:prstGeom prst="rect">
            <a:avLst/>
          </a:prstGeom>
        </p:spPr>
      </p:pic>
      <p:sp>
        <p:nvSpPr>
          <p:cNvPr id="21" name="Text 14"/>
          <p:cNvSpPr txBox="1"/>
          <p:nvPr/>
        </p:nvSpPr>
        <p:spPr>
          <a:xfrm>
            <a:off x="1600200" y="5257800"/>
            <a:ext cx="9966960" cy="411480"/>
          </a:xfrm>
          <a:prstGeom prst="rect">
            <a:avLst/>
          </a:prstGeom>
          <a:noFill/>
          <a:ln/>
        </p:spPr>
        <p:txBody>
          <a:bodyPr wrap="square" lIns="0" tIns="0" rIns="0" bIns="0" rtlCol="0" anchor="ctr"/>
          <a:lstStyle/>
          <a:p>
            <a:pPr indent="0" marL="0">
              <a:buNone/>
            </a:pPr>
            <a:r>
              <a:rPr lang="en-US" sz="2000" b="1" dirty="0">
                <a:solidFill>
                  <a:schemeClr val="tx2"/>
                </a:solidFill>
              </a:rPr>
              <a:t>Turn on accessibility tagging</a:t>
            </a:r>
            <a:endParaRPr lang="en-US" sz="2000" dirty="0"/>
          </a:p>
        </p:txBody>
      </p:sp>
      <p:sp>
        <p:nvSpPr>
          <p:cNvPr id="22" name="Text 15"/>
          <p:cNvSpPr txBox="1"/>
          <p:nvPr/>
        </p:nvSpPr>
        <p:spPr>
          <a:xfrm>
            <a:off x="1600200" y="5669280"/>
            <a:ext cx="9966960" cy="502920"/>
          </a:xfrm>
          <a:prstGeom prst="rect">
            <a:avLst/>
          </a:prstGeom>
          <a:noFill/>
          <a:ln/>
        </p:spPr>
        <p:txBody>
          <a:bodyPr wrap="square" lIns="0" tIns="0" rIns="0" bIns="0" rtlCol="0" anchor="t"/>
          <a:lstStyle/>
          <a:p>
            <a:pPr indent="0" marL="0">
              <a:buNone/>
            </a:pPr>
            <a:r>
              <a:rPr lang="en-US" sz="1600" dirty="0">
                <a:solidFill>
                  <a:schemeClr val="tx1"/>
                </a:solidFill>
              </a:rPr>
              <a:t>The same setting that helps screen readers tells a computer what is a heading or a table.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400" b="1" dirty="0">
                <a:solidFill>
                  <a:schemeClr val="tx2"/>
                </a:solidFill>
              </a:rPr>
              <a:t>Check and protect every file at the portal</a:t>
            </a:r>
            <a:endParaRPr lang="en-US" sz="3400" dirty="0"/>
          </a:p>
        </p:txBody>
      </p:sp>
      <p:sp>
        <p:nvSpPr>
          <p:cNvPr id="3" name="Shape 1"/>
          <p:cNvSpPr/>
          <p:nvPr/>
        </p:nvSpPr>
        <p:spPr>
          <a:xfrm>
            <a:off x="548640" y="1463040"/>
            <a:ext cx="5394960" cy="2103120"/>
          </a:xfrm>
          <a:prstGeom prst="roundRect">
            <a:avLst>
              <a:gd name="adj" fmla="val 6522"/>
            </a:avLst>
          </a:prstGeom>
          <a:solidFill>
            <a:schemeClr val="tx2"/>
          </a:solidFill>
          <a:ln/>
        </p:spPr>
      </p:sp>
      <p:pic>
        <p:nvPicPr>
          <p:cNvPr id="4" name="Image 0" descr="preencoded.png">    </p:cNvPr>
          <p:cNvPicPr>
            <a:picLocks noChangeAspect="1"/>
          </p:cNvPicPr>
          <p:nvPr/>
        </p:nvPicPr>
        <p:blipFill>
          <a:blip r:embed="rId1"/>
          <a:stretch>
            <a:fillRect/>
          </a:stretch>
        </p:blipFill>
        <p:spPr>
          <a:xfrm>
            <a:off x="822960" y="1737360"/>
            <a:ext cx="548640" cy="548640"/>
          </a:xfrm>
          <a:prstGeom prst="rect">
            <a:avLst/>
          </a:prstGeom>
        </p:spPr>
      </p:pic>
      <p:sp>
        <p:nvSpPr>
          <p:cNvPr id="5" name="Text 2"/>
          <p:cNvSpPr txBox="1"/>
          <p:nvPr/>
        </p:nvSpPr>
        <p:spPr>
          <a:xfrm>
            <a:off x="1554480" y="1691640"/>
            <a:ext cx="4114800" cy="685800"/>
          </a:xfrm>
          <a:prstGeom prst="rect">
            <a:avLst/>
          </a:prstGeom>
          <a:noFill/>
          <a:ln/>
        </p:spPr>
        <p:txBody>
          <a:bodyPr wrap="square" lIns="0" tIns="0" rIns="0" bIns="0" rtlCol="0" anchor="ctr"/>
          <a:lstStyle/>
          <a:p>
            <a:pPr indent="0" marL="0">
              <a:buNone/>
            </a:pPr>
            <a:r>
              <a:rPr lang="en-US" sz="1900" b="1" dirty="0">
                <a:solidFill>
                  <a:schemeClr val="bg1"/>
                </a:solidFill>
              </a:rPr>
              <a:t>Check every file on upload</a:t>
            </a:r>
            <a:endParaRPr lang="en-US" sz="1900" dirty="0"/>
          </a:p>
        </p:txBody>
      </p:sp>
      <p:sp>
        <p:nvSpPr>
          <p:cNvPr id="6" name="Text 3"/>
          <p:cNvSpPr txBox="1"/>
          <p:nvPr/>
        </p:nvSpPr>
        <p:spPr>
          <a:xfrm>
            <a:off x="822960" y="2468880"/>
            <a:ext cx="4846320" cy="914400"/>
          </a:xfrm>
          <a:prstGeom prst="rect">
            <a:avLst/>
          </a:prstGeom>
          <a:noFill/>
          <a:ln/>
        </p:spPr>
        <p:txBody>
          <a:bodyPr wrap="square" lIns="0" tIns="0" rIns="0" bIns="0" rtlCol="0" anchor="t"/>
          <a:lstStyle/>
          <a:p>
            <a:pPr indent="0" marL="0">
              <a:buNone/>
            </a:pPr>
            <a:r>
              <a:rPr lang="en-US" sz="1500" dirty="0">
                <a:solidFill>
                  <a:schemeClr val="bg2"/>
                </a:solidFill>
              </a:rPr>
              <a:t>Tell the filer “page 47 has no readable text” while they can still fix it. A rule beats advice.</a:t>
            </a:r>
            <a:endParaRPr lang="en-US" sz="1500" dirty="0"/>
          </a:p>
        </p:txBody>
      </p:sp>
      <p:sp>
        <p:nvSpPr>
          <p:cNvPr id="7" name="Shape 4"/>
          <p:cNvSpPr/>
          <p:nvPr/>
        </p:nvSpPr>
        <p:spPr>
          <a:xfrm>
            <a:off x="6217920" y="1463040"/>
            <a:ext cx="5394960" cy="2103120"/>
          </a:xfrm>
          <a:prstGeom prst="roundRect">
            <a:avLst>
              <a:gd name="adj" fmla="val 6522"/>
            </a:avLst>
          </a:prstGeom>
          <a:solidFill>
            <a:schemeClr val="bg2"/>
          </a:solidFill>
          <a:ln/>
        </p:spPr>
      </p:sp>
      <p:pic>
        <p:nvPicPr>
          <p:cNvPr id="8" name="Image 1" descr="preencoded.png">    </p:cNvPr>
          <p:cNvPicPr>
            <a:picLocks noChangeAspect="1"/>
          </p:cNvPicPr>
          <p:nvPr/>
        </p:nvPicPr>
        <p:blipFill>
          <a:blip r:embed="rId2"/>
          <a:stretch>
            <a:fillRect/>
          </a:stretch>
        </p:blipFill>
        <p:spPr>
          <a:xfrm>
            <a:off x="6492240" y="1737360"/>
            <a:ext cx="548640" cy="548640"/>
          </a:xfrm>
          <a:prstGeom prst="rect">
            <a:avLst/>
          </a:prstGeom>
        </p:spPr>
      </p:pic>
      <p:sp>
        <p:nvSpPr>
          <p:cNvPr id="9" name="Text 5"/>
          <p:cNvSpPr txBox="1"/>
          <p:nvPr/>
        </p:nvSpPr>
        <p:spPr>
          <a:xfrm>
            <a:off x="7223760" y="1691640"/>
            <a:ext cx="4114800" cy="685800"/>
          </a:xfrm>
          <a:prstGeom prst="rect">
            <a:avLst/>
          </a:prstGeom>
          <a:noFill/>
          <a:ln/>
        </p:spPr>
        <p:txBody>
          <a:bodyPr wrap="square" lIns="0" tIns="0" rIns="0" bIns="0" rtlCol="0" anchor="ctr"/>
          <a:lstStyle/>
          <a:p>
            <a:pPr indent="0" marL="0">
              <a:buNone/>
            </a:pPr>
            <a:r>
              <a:rPr lang="en-US" sz="1900" b="1" dirty="0">
                <a:solidFill>
                  <a:schemeClr val="tx2"/>
                </a:solidFill>
              </a:rPr>
              <a:t>Fingerprint and time-stamp every file</a:t>
            </a:r>
            <a:endParaRPr lang="en-US" sz="1900" dirty="0"/>
          </a:p>
        </p:txBody>
      </p:sp>
      <p:sp>
        <p:nvSpPr>
          <p:cNvPr id="10" name="Text 6"/>
          <p:cNvSpPr txBox="1"/>
          <p:nvPr/>
        </p:nvSpPr>
        <p:spPr>
          <a:xfrm>
            <a:off x="6492240" y="2468880"/>
            <a:ext cx="4846320" cy="914400"/>
          </a:xfrm>
          <a:prstGeom prst="rect">
            <a:avLst/>
          </a:prstGeom>
          <a:noFill/>
          <a:ln/>
        </p:spPr>
        <p:txBody>
          <a:bodyPr wrap="square" lIns="0" tIns="0" rIns="0" bIns="0" rtlCol="0" anchor="t"/>
          <a:lstStyle/>
          <a:p>
            <a:pPr indent="0" marL="0">
              <a:buNone/>
            </a:pPr>
            <a:r>
              <a:rPr lang="en-US" sz="1500" dirty="0">
                <a:solidFill>
                  <a:schemeClr val="tx1"/>
                </a:solidFill>
              </a:rPr>
              <a:t>Anyone can prove a copy is the original — no paper receipt needed.</a:t>
            </a:r>
            <a:endParaRPr lang="en-US" sz="1500" dirty="0"/>
          </a:p>
        </p:txBody>
      </p:sp>
      <p:sp>
        <p:nvSpPr>
          <p:cNvPr id="11" name="Shape 7"/>
          <p:cNvSpPr/>
          <p:nvPr/>
        </p:nvSpPr>
        <p:spPr>
          <a:xfrm>
            <a:off x="548640" y="3794760"/>
            <a:ext cx="5394960" cy="2103120"/>
          </a:xfrm>
          <a:prstGeom prst="roundRect">
            <a:avLst>
              <a:gd name="adj" fmla="val 6522"/>
            </a:avLst>
          </a:prstGeom>
          <a:solidFill>
            <a:schemeClr val="bg2"/>
          </a:solidFill>
          <a:ln/>
        </p:spPr>
      </p:sp>
      <p:pic>
        <p:nvPicPr>
          <p:cNvPr id="12" name="Image 2" descr="preencoded.png">    </p:cNvPr>
          <p:cNvPicPr>
            <a:picLocks noChangeAspect="1"/>
          </p:cNvPicPr>
          <p:nvPr/>
        </p:nvPicPr>
        <p:blipFill>
          <a:blip r:embed="rId3"/>
          <a:stretch>
            <a:fillRect/>
          </a:stretch>
        </p:blipFill>
        <p:spPr>
          <a:xfrm>
            <a:off x="822960" y="4069080"/>
            <a:ext cx="548640" cy="548640"/>
          </a:xfrm>
          <a:prstGeom prst="rect">
            <a:avLst/>
          </a:prstGeom>
        </p:spPr>
      </p:pic>
      <p:sp>
        <p:nvSpPr>
          <p:cNvPr id="13" name="Text 8"/>
          <p:cNvSpPr txBox="1"/>
          <p:nvPr/>
        </p:nvSpPr>
        <p:spPr>
          <a:xfrm>
            <a:off x="1554480" y="4023360"/>
            <a:ext cx="4114800" cy="685800"/>
          </a:xfrm>
          <a:prstGeom prst="rect">
            <a:avLst/>
          </a:prstGeom>
          <a:noFill/>
          <a:ln/>
        </p:spPr>
        <p:txBody>
          <a:bodyPr wrap="square" lIns="0" tIns="0" rIns="0" bIns="0" rtlCol="0" anchor="ctr"/>
          <a:lstStyle/>
          <a:p>
            <a:pPr indent="0" marL="0">
              <a:buNone/>
            </a:pPr>
            <a:r>
              <a:rPr lang="en-US" sz="1900" b="1" dirty="0">
                <a:solidFill>
                  <a:schemeClr val="tx2"/>
                </a:solidFill>
              </a:rPr>
              <a:t>Accept spreadsheets, maps and digital signatures</a:t>
            </a:r>
            <a:endParaRPr lang="en-US" sz="1900" dirty="0"/>
          </a:p>
        </p:txBody>
      </p:sp>
      <p:sp>
        <p:nvSpPr>
          <p:cNvPr id="14" name="Text 9"/>
          <p:cNvSpPr txBox="1"/>
          <p:nvPr/>
        </p:nvSpPr>
        <p:spPr>
          <a:xfrm>
            <a:off x="822960" y="4800600"/>
            <a:ext cx="4846320" cy="914400"/>
          </a:xfrm>
          <a:prstGeom prst="rect">
            <a:avLst/>
          </a:prstGeom>
          <a:noFill/>
          <a:ln/>
        </p:spPr>
        <p:txBody>
          <a:bodyPr wrap="square" lIns="0" tIns="0" rIns="0" bIns="0" rtlCol="0" anchor="t"/>
          <a:lstStyle/>
          <a:p>
            <a:pPr indent="0" marL="0">
              <a:buNone/>
            </a:pPr>
            <a:r>
              <a:rPr lang="en-US" sz="1500" dirty="0">
                <a:solidFill>
                  <a:schemeClr val="tx1"/>
                </a:solidFill>
              </a:rPr>
              <a:t>Not only PDFs, so data stops travelling as pictures, e-mails and USB sticks.</a:t>
            </a:r>
            <a:endParaRPr lang="en-US" sz="1500" dirty="0"/>
          </a:p>
        </p:txBody>
      </p:sp>
      <p:sp>
        <p:nvSpPr>
          <p:cNvPr id="15" name="Shape 10"/>
          <p:cNvSpPr/>
          <p:nvPr/>
        </p:nvSpPr>
        <p:spPr>
          <a:xfrm>
            <a:off x="6217920" y="3794760"/>
            <a:ext cx="5394960" cy="2103120"/>
          </a:xfrm>
          <a:prstGeom prst="roundRect">
            <a:avLst>
              <a:gd name="adj" fmla="val 6522"/>
            </a:avLst>
          </a:prstGeom>
          <a:solidFill>
            <a:schemeClr val="bg2"/>
          </a:solidFill>
          <a:ln/>
        </p:spPr>
      </p:sp>
      <p:pic>
        <p:nvPicPr>
          <p:cNvPr id="16" name="Image 3" descr="preencoded.png">    </p:cNvPr>
          <p:cNvPicPr>
            <a:picLocks noChangeAspect="1"/>
          </p:cNvPicPr>
          <p:nvPr/>
        </p:nvPicPr>
        <p:blipFill>
          <a:blip r:embed="rId4"/>
          <a:stretch>
            <a:fillRect/>
          </a:stretch>
        </p:blipFill>
        <p:spPr>
          <a:xfrm>
            <a:off x="6492240" y="4069080"/>
            <a:ext cx="548640" cy="548640"/>
          </a:xfrm>
          <a:prstGeom prst="rect">
            <a:avLst/>
          </a:prstGeom>
        </p:spPr>
      </p:pic>
      <p:sp>
        <p:nvSpPr>
          <p:cNvPr id="17" name="Text 11"/>
          <p:cNvSpPr txBox="1"/>
          <p:nvPr/>
        </p:nvSpPr>
        <p:spPr>
          <a:xfrm>
            <a:off x="7223760" y="4023360"/>
            <a:ext cx="4114800" cy="685800"/>
          </a:xfrm>
          <a:prstGeom prst="rect">
            <a:avLst/>
          </a:prstGeom>
          <a:noFill/>
          <a:ln/>
        </p:spPr>
        <p:txBody>
          <a:bodyPr wrap="square" lIns="0" tIns="0" rIns="0" bIns="0" rtlCol="0" anchor="ctr"/>
          <a:lstStyle/>
          <a:p>
            <a:pPr indent="0" marL="0">
              <a:buNone/>
            </a:pPr>
            <a:r>
              <a:rPr lang="en-US" sz="1900" b="1" dirty="0">
                <a:solidFill>
                  <a:schemeClr val="tx2"/>
                </a:solidFill>
              </a:rPr>
              <a:t>Open the record to automation</a:t>
            </a:r>
            <a:endParaRPr lang="en-US" sz="1900" dirty="0"/>
          </a:p>
        </p:txBody>
      </p:sp>
      <p:sp>
        <p:nvSpPr>
          <p:cNvPr id="18" name="Text 12"/>
          <p:cNvSpPr txBox="1"/>
          <p:nvPr/>
        </p:nvSpPr>
        <p:spPr>
          <a:xfrm>
            <a:off x="6492240" y="4800600"/>
            <a:ext cx="4846320" cy="914400"/>
          </a:xfrm>
          <a:prstGeom prst="rect">
            <a:avLst/>
          </a:prstGeom>
          <a:noFill/>
          <a:ln/>
        </p:spPr>
        <p:txBody>
          <a:bodyPr wrap="square" lIns="0" tIns="0" rIns="0" bIns="0" rtlCol="0" anchor="t"/>
          <a:lstStyle/>
          <a:p>
            <a:pPr indent="0" marL="0">
              <a:buNone/>
            </a:pPr>
            <a:r>
              <a:rPr lang="en-US" sz="1500" dirty="0">
                <a:solidFill>
                  <a:schemeClr val="tx1"/>
                </a:solidFill>
              </a:rPr>
              <a:t>Bulk access with each file’s details, so our own tools — and the public’s — can use it.</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400" b="1" dirty="0">
                <a:solidFill>
                  <a:schemeClr val="tx2"/>
                </a:solidFill>
              </a:rPr>
              <a:t>Build an AI team and a cloud strategy</a:t>
            </a:r>
            <a:endParaRPr lang="en-US" sz="3400" dirty="0"/>
          </a:p>
        </p:txBody>
      </p:sp>
      <p:sp>
        <p:nvSpPr>
          <p:cNvPr id="3" name="Shape 1"/>
          <p:cNvSpPr/>
          <p:nvPr/>
        </p:nvSpPr>
        <p:spPr>
          <a:xfrm>
            <a:off x="548640" y="1417320"/>
            <a:ext cx="2606040" cy="1508760"/>
          </a:xfrm>
          <a:prstGeom prst="roundRect">
            <a:avLst>
              <a:gd name="adj" fmla="val 9091"/>
            </a:avLst>
          </a:prstGeom>
          <a:solidFill>
            <a:schemeClr val="bg2"/>
          </a:solidFill>
          <a:ln/>
        </p:spPr>
      </p:sp>
      <p:pic>
        <p:nvPicPr>
          <p:cNvPr id="4" name="Image 0" descr="preencoded.png">    </p:cNvPr>
          <p:cNvPicPr>
            <a:picLocks noChangeAspect="1"/>
          </p:cNvPicPr>
          <p:nvPr/>
        </p:nvPicPr>
        <p:blipFill>
          <a:blip r:embed="rId1"/>
          <a:stretch>
            <a:fillRect/>
          </a:stretch>
        </p:blipFill>
        <p:spPr>
          <a:xfrm>
            <a:off x="731520" y="1618488"/>
            <a:ext cx="411480" cy="411480"/>
          </a:xfrm>
          <a:prstGeom prst="rect">
            <a:avLst/>
          </a:prstGeom>
        </p:spPr>
      </p:pic>
      <p:sp>
        <p:nvSpPr>
          <p:cNvPr id="5" name="Text 2"/>
          <p:cNvSpPr txBox="1"/>
          <p:nvPr/>
        </p:nvSpPr>
        <p:spPr>
          <a:xfrm>
            <a:off x="1280160" y="1554480"/>
            <a:ext cx="1783080" cy="548640"/>
          </a:xfrm>
          <a:prstGeom prst="rect">
            <a:avLst/>
          </a:prstGeom>
          <a:noFill/>
          <a:ln/>
        </p:spPr>
        <p:txBody>
          <a:bodyPr wrap="square" lIns="0" tIns="0" rIns="0" bIns="0" rtlCol="0" anchor="ctr"/>
          <a:lstStyle/>
          <a:p>
            <a:pPr indent="0" marL="0">
              <a:buNone/>
            </a:pPr>
            <a:r>
              <a:rPr lang="en-US" sz="1500" b="1" dirty="0">
                <a:solidFill>
                  <a:schemeClr val="tx2"/>
                </a:solidFill>
              </a:rPr>
              <a:t>Business owner</a:t>
            </a:r>
            <a:endParaRPr lang="en-US" sz="1500" dirty="0"/>
          </a:p>
        </p:txBody>
      </p:sp>
      <p:sp>
        <p:nvSpPr>
          <p:cNvPr id="6" name="Text 3"/>
          <p:cNvSpPr txBox="1"/>
          <p:nvPr/>
        </p:nvSpPr>
        <p:spPr>
          <a:xfrm>
            <a:off x="731520" y="2194560"/>
            <a:ext cx="2286000" cy="640080"/>
          </a:xfrm>
          <a:prstGeom prst="rect">
            <a:avLst/>
          </a:prstGeom>
          <a:noFill/>
          <a:ln/>
        </p:spPr>
        <p:txBody>
          <a:bodyPr wrap="square" lIns="0" tIns="0" rIns="0" bIns="0" rtlCol="0" anchor="t"/>
          <a:lstStyle/>
          <a:p>
            <a:pPr indent="0" marL="0">
              <a:buNone/>
            </a:pPr>
            <a:r>
              <a:rPr lang="en-US" sz="1300" dirty="0">
                <a:solidFill>
                  <a:schemeClr val="tx1"/>
                </a:solidFill>
              </a:rPr>
              <a:t>sets priorities and measures value</a:t>
            </a:r>
            <a:endParaRPr lang="en-US" sz="1300" dirty="0"/>
          </a:p>
        </p:txBody>
      </p:sp>
      <p:sp>
        <p:nvSpPr>
          <p:cNvPr id="7" name="Shape 4"/>
          <p:cNvSpPr/>
          <p:nvPr/>
        </p:nvSpPr>
        <p:spPr>
          <a:xfrm>
            <a:off x="3337560" y="1417320"/>
            <a:ext cx="2606040" cy="1508760"/>
          </a:xfrm>
          <a:prstGeom prst="roundRect">
            <a:avLst>
              <a:gd name="adj" fmla="val 9091"/>
            </a:avLst>
          </a:prstGeom>
          <a:solidFill>
            <a:schemeClr val="bg2"/>
          </a:solidFill>
          <a:ln/>
        </p:spPr>
      </p:sp>
      <p:pic>
        <p:nvPicPr>
          <p:cNvPr id="8" name="Image 1" descr="preencoded.png">    </p:cNvPr>
          <p:cNvPicPr>
            <a:picLocks noChangeAspect="1"/>
          </p:cNvPicPr>
          <p:nvPr/>
        </p:nvPicPr>
        <p:blipFill>
          <a:blip r:embed="rId2"/>
          <a:stretch>
            <a:fillRect/>
          </a:stretch>
        </p:blipFill>
        <p:spPr>
          <a:xfrm>
            <a:off x="3520440" y="1618488"/>
            <a:ext cx="411480" cy="411480"/>
          </a:xfrm>
          <a:prstGeom prst="rect">
            <a:avLst/>
          </a:prstGeom>
        </p:spPr>
      </p:pic>
      <p:sp>
        <p:nvSpPr>
          <p:cNvPr id="9" name="Text 5"/>
          <p:cNvSpPr txBox="1"/>
          <p:nvPr/>
        </p:nvSpPr>
        <p:spPr>
          <a:xfrm>
            <a:off x="4069080" y="1554480"/>
            <a:ext cx="1783080" cy="548640"/>
          </a:xfrm>
          <a:prstGeom prst="rect">
            <a:avLst/>
          </a:prstGeom>
          <a:noFill/>
          <a:ln/>
        </p:spPr>
        <p:txBody>
          <a:bodyPr wrap="square" lIns="0" tIns="0" rIns="0" bIns="0" rtlCol="0" anchor="ctr"/>
          <a:lstStyle/>
          <a:p>
            <a:pPr indent="0" marL="0">
              <a:buNone/>
            </a:pPr>
            <a:r>
              <a:rPr lang="en-US" sz="1500" b="1" dirty="0">
                <a:solidFill>
                  <a:schemeClr val="tx2"/>
                </a:solidFill>
              </a:rPr>
              <a:t>Regulatory experts</a:t>
            </a:r>
            <a:endParaRPr lang="en-US" sz="1500" dirty="0"/>
          </a:p>
        </p:txBody>
      </p:sp>
      <p:sp>
        <p:nvSpPr>
          <p:cNvPr id="10" name="Text 6"/>
          <p:cNvSpPr txBox="1"/>
          <p:nvPr/>
        </p:nvSpPr>
        <p:spPr>
          <a:xfrm>
            <a:off x="3520440" y="2194560"/>
            <a:ext cx="2286000" cy="640080"/>
          </a:xfrm>
          <a:prstGeom prst="rect">
            <a:avLst/>
          </a:prstGeom>
          <a:noFill/>
          <a:ln/>
        </p:spPr>
        <p:txBody>
          <a:bodyPr wrap="square" lIns="0" tIns="0" rIns="0" bIns="0" rtlCol="0" anchor="t"/>
          <a:lstStyle/>
          <a:p>
            <a:pPr indent="0" marL="0">
              <a:buNone/>
            </a:pPr>
            <a:r>
              <a:rPr lang="en-US" sz="1300" dirty="0">
                <a:solidFill>
                  <a:schemeClr val="tx1"/>
                </a:solidFill>
              </a:rPr>
              <a:t>define what “right” looks like</a:t>
            </a:r>
            <a:endParaRPr lang="en-US" sz="1300" dirty="0"/>
          </a:p>
        </p:txBody>
      </p:sp>
      <p:sp>
        <p:nvSpPr>
          <p:cNvPr id="11" name="Shape 7"/>
          <p:cNvSpPr/>
          <p:nvPr/>
        </p:nvSpPr>
        <p:spPr>
          <a:xfrm>
            <a:off x="6126480" y="1417320"/>
            <a:ext cx="2606040" cy="1508760"/>
          </a:xfrm>
          <a:prstGeom prst="roundRect">
            <a:avLst>
              <a:gd name="adj" fmla="val 9091"/>
            </a:avLst>
          </a:prstGeom>
          <a:solidFill>
            <a:schemeClr val="bg2"/>
          </a:solidFill>
          <a:ln/>
        </p:spPr>
      </p:sp>
      <p:pic>
        <p:nvPicPr>
          <p:cNvPr id="12" name="Image 2" descr="preencoded.png">    </p:cNvPr>
          <p:cNvPicPr>
            <a:picLocks noChangeAspect="1"/>
          </p:cNvPicPr>
          <p:nvPr/>
        </p:nvPicPr>
        <p:blipFill>
          <a:blip r:embed="rId3"/>
          <a:stretch>
            <a:fillRect/>
          </a:stretch>
        </p:blipFill>
        <p:spPr>
          <a:xfrm>
            <a:off x="6309360" y="1618488"/>
            <a:ext cx="411480" cy="411480"/>
          </a:xfrm>
          <a:prstGeom prst="rect">
            <a:avLst/>
          </a:prstGeom>
        </p:spPr>
      </p:pic>
      <p:sp>
        <p:nvSpPr>
          <p:cNvPr id="13" name="Text 8"/>
          <p:cNvSpPr txBox="1"/>
          <p:nvPr/>
        </p:nvSpPr>
        <p:spPr>
          <a:xfrm>
            <a:off x="6858000" y="1554480"/>
            <a:ext cx="1783080" cy="548640"/>
          </a:xfrm>
          <a:prstGeom prst="rect">
            <a:avLst/>
          </a:prstGeom>
          <a:noFill/>
          <a:ln/>
        </p:spPr>
        <p:txBody>
          <a:bodyPr wrap="square" lIns="0" tIns="0" rIns="0" bIns="0" rtlCol="0" anchor="ctr"/>
          <a:lstStyle/>
          <a:p>
            <a:pPr indent="0" marL="0">
              <a:buNone/>
            </a:pPr>
            <a:r>
              <a:rPr lang="en-US" sz="1500" b="1" dirty="0">
                <a:solidFill>
                  <a:schemeClr val="tx2"/>
                </a:solidFill>
              </a:rPr>
              <a:t>Data engineers</a:t>
            </a:r>
            <a:endParaRPr lang="en-US" sz="1500" dirty="0"/>
          </a:p>
        </p:txBody>
      </p:sp>
      <p:sp>
        <p:nvSpPr>
          <p:cNvPr id="14" name="Text 9"/>
          <p:cNvSpPr txBox="1"/>
          <p:nvPr/>
        </p:nvSpPr>
        <p:spPr>
          <a:xfrm>
            <a:off x="6309360" y="2194560"/>
            <a:ext cx="2286000" cy="640080"/>
          </a:xfrm>
          <a:prstGeom prst="rect">
            <a:avLst/>
          </a:prstGeom>
          <a:noFill/>
          <a:ln/>
        </p:spPr>
        <p:txBody>
          <a:bodyPr wrap="square" lIns="0" tIns="0" rIns="0" bIns="0" rtlCol="0" anchor="t"/>
          <a:lstStyle/>
          <a:p>
            <a:pPr indent="0" marL="0">
              <a:buNone/>
            </a:pPr>
            <a:r>
              <a:rPr lang="en-US" sz="1300" dirty="0">
                <a:solidFill>
                  <a:schemeClr val="tx1"/>
                </a:solidFill>
              </a:rPr>
              <a:t>turn the record into reliable data</a:t>
            </a:r>
            <a:endParaRPr lang="en-US" sz="1300" dirty="0"/>
          </a:p>
        </p:txBody>
      </p:sp>
      <p:sp>
        <p:nvSpPr>
          <p:cNvPr id="15" name="Shape 10"/>
          <p:cNvSpPr/>
          <p:nvPr/>
        </p:nvSpPr>
        <p:spPr>
          <a:xfrm>
            <a:off x="8915400" y="1417320"/>
            <a:ext cx="2606040" cy="1508760"/>
          </a:xfrm>
          <a:prstGeom prst="roundRect">
            <a:avLst>
              <a:gd name="adj" fmla="val 9091"/>
            </a:avLst>
          </a:prstGeom>
          <a:solidFill>
            <a:schemeClr val="bg2"/>
          </a:solidFill>
          <a:ln/>
        </p:spPr>
      </p:sp>
      <p:pic>
        <p:nvPicPr>
          <p:cNvPr id="16" name="Image 3" descr="preencoded.png">    </p:cNvPr>
          <p:cNvPicPr>
            <a:picLocks noChangeAspect="1"/>
          </p:cNvPicPr>
          <p:nvPr/>
        </p:nvPicPr>
        <p:blipFill>
          <a:blip r:embed="rId4"/>
          <a:stretch>
            <a:fillRect/>
          </a:stretch>
        </p:blipFill>
        <p:spPr>
          <a:xfrm>
            <a:off x="9098280" y="1618488"/>
            <a:ext cx="411480" cy="411480"/>
          </a:xfrm>
          <a:prstGeom prst="rect">
            <a:avLst/>
          </a:prstGeom>
        </p:spPr>
      </p:pic>
      <p:sp>
        <p:nvSpPr>
          <p:cNvPr id="17" name="Text 11"/>
          <p:cNvSpPr txBox="1"/>
          <p:nvPr/>
        </p:nvSpPr>
        <p:spPr>
          <a:xfrm>
            <a:off x="9646920" y="1554480"/>
            <a:ext cx="1783080" cy="548640"/>
          </a:xfrm>
          <a:prstGeom prst="rect">
            <a:avLst/>
          </a:prstGeom>
          <a:noFill/>
          <a:ln/>
        </p:spPr>
        <p:txBody>
          <a:bodyPr wrap="square" lIns="0" tIns="0" rIns="0" bIns="0" rtlCol="0" anchor="ctr"/>
          <a:lstStyle/>
          <a:p>
            <a:pPr indent="0" marL="0">
              <a:buNone/>
            </a:pPr>
            <a:r>
              <a:rPr lang="en-US" sz="1500" b="1" dirty="0">
                <a:solidFill>
                  <a:schemeClr val="tx2"/>
                </a:solidFill>
              </a:rPr>
              <a:t>AI engineers</a:t>
            </a:r>
            <a:endParaRPr lang="en-US" sz="1500" dirty="0"/>
          </a:p>
        </p:txBody>
      </p:sp>
      <p:sp>
        <p:nvSpPr>
          <p:cNvPr id="18" name="Text 12"/>
          <p:cNvSpPr txBox="1"/>
          <p:nvPr/>
        </p:nvSpPr>
        <p:spPr>
          <a:xfrm>
            <a:off x="9098280" y="2194560"/>
            <a:ext cx="2286000" cy="640080"/>
          </a:xfrm>
          <a:prstGeom prst="rect">
            <a:avLst/>
          </a:prstGeom>
          <a:noFill/>
          <a:ln/>
        </p:spPr>
        <p:txBody>
          <a:bodyPr wrap="square" lIns="0" tIns="0" rIns="0" bIns="0" rtlCol="0" anchor="t"/>
          <a:lstStyle/>
          <a:p>
            <a:pPr indent="0" marL="0">
              <a:buNone/>
            </a:pPr>
            <a:r>
              <a:rPr lang="en-US" sz="1300" dirty="0">
                <a:solidFill>
                  <a:schemeClr val="tx1"/>
                </a:solidFill>
              </a:rPr>
              <a:t>build, test and monitor AI tools</a:t>
            </a:r>
            <a:endParaRPr lang="en-US" sz="1300" dirty="0"/>
          </a:p>
        </p:txBody>
      </p:sp>
      <p:sp>
        <p:nvSpPr>
          <p:cNvPr id="19" name="Shape 13"/>
          <p:cNvSpPr/>
          <p:nvPr/>
        </p:nvSpPr>
        <p:spPr>
          <a:xfrm>
            <a:off x="548640" y="3108960"/>
            <a:ext cx="2606040" cy="1508760"/>
          </a:xfrm>
          <a:prstGeom prst="roundRect">
            <a:avLst>
              <a:gd name="adj" fmla="val 9091"/>
            </a:avLst>
          </a:prstGeom>
          <a:solidFill>
            <a:schemeClr val="bg2"/>
          </a:solidFill>
          <a:ln/>
        </p:spPr>
      </p:sp>
      <p:pic>
        <p:nvPicPr>
          <p:cNvPr id="20" name="Image 4" descr="preencoded.png">    </p:cNvPr>
          <p:cNvPicPr>
            <a:picLocks noChangeAspect="1"/>
          </p:cNvPicPr>
          <p:nvPr/>
        </p:nvPicPr>
        <p:blipFill>
          <a:blip r:embed="rId5"/>
          <a:stretch>
            <a:fillRect/>
          </a:stretch>
        </p:blipFill>
        <p:spPr>
          <a:xfrm>
            <a:off x="731520" y="3310128"/>
            <a:ext cx="411480" cy="411480"/>
          </a:xfrm>
          <a:prstGeom prst="rect">
            <a:avLst/>
          </a:prstGeom>
        </p:spPr>
      </p:pic>
      <p:sp>
        <p:nvSpPr>
          <p:cNvPr id="21" name="Text 14"/>
          <p:cNvSpPr txBox="1"/>
          <p:nvPr/>
        </p:nvSpPr>
        <p:spPr>
          <a:xfrm>
            <a:off x="1280160" y="3246120"/>
            <a:ext cx="1783080" cy="548640"/>
          </a:xfrm>
          <a:prstGeom prst="rect">
            <a:avLst/>
          </a:prstGeom>
          <a:noFill/>
          <a:ln/>
        </p:spPr>
        <p:txBody>
          <a:bodyPr wrap="square" lIns="0" tIns="0" rIns="0" bIns="0" rtlCol="0" anchor="ctr"/>
          <a:lstStyle/>
          <a:p>
            <a:pPr indent="0" marL="0">
              <a:buNone/>
            </a:pPr>
            <a:r>
              <a:rPr lang="en-US" sz="1500" b="1" dirty="0">
                <a:solidFill>
                  <a:schemeClr val="tx2"/>
                </a:solidFill>
              </a:rPr>
              <a:t>Cloud and security</a:t>
            </a:r>
            <a:endParaRPr lang="en-US" sz="1500" dirty="0"/>
          </a:p>
        </p:txBody>
      </p:sp>
      <p:sp>
        <p:nvSpPr>
          <p:cNvPr id="22" name="Text 15"/>
          <p:cNvSpPr txBox="1"/>
          <p:nvPr/>
        </p:nvSpPr>
        <p:spPr>
          <a:xfrm>
            <a:off x="731520" y="3886200"/>
            <a:ext cx="2286000" cy="640080"/>
          </a:xfrm>
          <a:prstGeom prst="rect">
            <a:avLst/>
          </a:prstGeom>
          <a:noFill/>
          <a:ln/>
        </p:spPr>
        <p:txBody>
          <a:bodyPr wrap="square" lIns="0" tIns="0" rIns="0" bIns="0" rtlCol="0" anchor="t"/>
          <a:lstStyle/>
          <a:p>
            <a:pPr indent="0" marL="0">
              <a:buNone/>
            </a:pPr>
            <a:r>
              <a:rPr lang="en-US" sz="1300" dirty="0">
                <a:solidFill>
                  <a:schemeClr val="tx1"/>
                </a:solidFill>
              </a:rPr>
              <a:t>a secure, scalable platform</a:t>
            </a:r>
            <a:endParaRPr lang="en-US" sz="1300" dirty="0"/>
          </a:p>
        </p:txBody>
      </p:sp>
      <p:sp>
        <p:nvSpPr>
          <p:cNvPr id="23" name="Shape 16"/>
          <p:cNvSpPr/>
          <p:nvPr/>
        </p:nvSpPr>
        <p:spPr>
          <a:xfrm>
            <a:off x="3337560" y="3108960"/>
            <a:ext cx="2606040" cy="1508760"/>
          </a:xfrm>
          <a:prstGeom prst="roundRect">
            <a:avLst>
              <a:gd name="adj" fmla="val 9091"/>
            </a:avLst>
          </a:prstGeom>
          <a:solidFill>
            <a:schemeClr val="bg2"/>
          </a:solidFill>
          <a:ln/>
        </p:spPr>
      </p:sp>
      <p:pic>
        <p:nvPicPr>
          <p:cNvPr id="24" name="Image 5" descr="preencoded.png">    </p:cNvPr>
          <p:cNvPicPr>
            <a:picLocks noChangeAspect="1"/>
          </p:cNvPicPr>
          <p:nvPr/>
        </p:nvPicPr>
        <p:blipFill>
          <a:blip r:embed="rId6"/>
          <a:stretch>
            <a:fillRect/>
          </a:stretch>
        </p:blipFill>
        <p:spPr>
          <a:xfrm>
            <a:off x="3520440" y="3310128"/>
            <a:ext cx="411480" cy="411480"/>
          </a:xfrm>
          <a:prstGeom prst="rect">
            <a:avLst/>
          </a:prstGeom>
        </p:spPr>
      </p:pic>
      <p:sp>
        <p:nvSpPr>
          <p:cNvPr id="25" name="Text 17"/>
          <p:cNvSpPr txBox="1"/>
          <p:nvPr/>
        </p:nvSpPr>
        <p:spPr>
          <a:xfrm>
            <a:off x="4069080" y="3246120"/>
            <a:ext cx="1783080" cy="548640"/>
          </a:xfrm>
          <a:prstGeom prst="rect">
            <a:avLst/>
          </a:prstGeom>
          <a:noFill/>
          <a:ln/>
        </p:spPr>
        <p:txBody>
          <a:bodyPr wrap="square" lIns="0" tIns="0" rIns="0" bIns="0" rtlCol="0" anchor="ctr"/>
          <a:lstStyle/>
          <a:p>
            <a:pPr indent="0" marL="0">
              <a:buNone/>
            </a:pPr>
            <a:r>
              <a:rPr lang="en-US" sz="1500" b="1" dirty="0">
                <a:solidFill>
                  <a:schemeClr val="tx2"/>
                </a:solidFill>
              </a:rPr>
              <a:t>Information management</a:t>
            </a:r>
            <a:endParaRPr lang="en-US" sz="1500" dirty="0"/>
          </a:p>
        </p:txBody>
      </p:sp>
      <p:sp>
        <p:nvSpPr>
          <p:cNvPr id="26" name="Text 18"/>
          <p:cNvSpPr txBox="1"/>
          <p:nvPr/>
        </p:nvSpPr>
        <p:spPr>
          <a:xfrm>
            <a:off x="3520440" y="3886200"/>
            <a:ext cx="2286000" cy="640080"/>
          </a:xfrm>
          <a:prstGeom prst="rect">
            <a:avLst/>
          </a:prstGeom>
          <a:noFill/>
          <a:ln/>
        </p:spPr>
        <p:txBody>
          <a:bodyPr wrap="square" lIns="0" tIns="0" rIns="0" bIns="0" rtlCol="0" anchor="t"/>
          <a:lstStyle/>
          <a:p>
            <a:pPr indent="0" marL="0">
              <a:buNone/>
            </a:pPr>
            <a:r>
              <a:rPr lang="en-US" sz="1300" dirty="0">
                <a:solidFill>
                  <a:schemeClr val="tx1"/>
                </a:solidFill>
              </a:rPr>
              <a:t>records, fingerprints, retention</a:t>
            </a:r>
            <a:endParaRPr lang="en-US" sz="1300" dirty="0"/>
          </a:p>
        </p:txBody>
      </p:sp>
      <p:sp>
        <p:nvSpPr>
          <p:cNvPr id="27" name="Shape 19"/>
          <p:cNvSpPr/>
          <p:nvPr/>
        </p:nvSpPr>
        <p:spPr>
          <a:xfrm>
            <a:off x="6126480" y="3108960"/>
            <a:ext cx="2606040" cy="1508760"/>
          </a:xfrm>
          <a:prstGeom prst="roundRect">
            <a:avLst>
              <a:gd name="adj" fmla="val 9091"/>
            </a:avLst>
          </a:prstGeom>
          <a:solidFill>
            <a:schemeClr val="bg2"/>
          </a:solidFill>
          <a:ln/>
        </p:spPr>
      </p:sp>
      <p:pic>
        <p:nvPicPr>
          <p:cNvPr id="28" name="Image 6" descr="preencoded.png">    </p:cNvPr>
          <p:cNvPicPr>
            <a:picLocks noChangeAspect="1"/>
          </p:cNvPicPr>
          <p:nvPr/>
        </p:nvPicPr>
        <p:blipFill>
          <a:blip r:embed="rId7"/>
          <a:stretch>
            <a:fillRect/>
          </a:stretch>
        </p:blipFill>
        <p:spPr>
          <a:xfrm>
            <a:off x="6309360" y="3310128"/>
            <a:ext cx="411480" cy="411480"/>
          </a:xfrm>
          <a:prstGeom prst="rect">
            <a:avLst/>
          </a:prstGeom>
        </p:spPr>
      </p:pic>
      <p:sp>
        <p:nvSpPr>
          <p:cNvPr id="29" name="Text 20"/>
          <p:cNvSpPr txBox="1"/>
          <p:nvPr/>
        </p:nvSpPr>
        <p:spPr>
          <a:xfrm>
            <a:off x="6858000" y="3246120"/>
            <a:ext cx="1783080" cy="548640"/>
          </a:xfrm>
          <a:prstGeom prst="rect">
            <a:avLst/>
          </a:prstGeom>
          <a:noFill/>
          <a:ln/>
        </p:spPr>
        <p:txBody>
          <a:bodyPr wrap="square" lIns="0" tIns="0" rIns="0" bIns="0" rtlCol="0" anchor="ctr"/>
          <a:lstStyle/>
          <a:p>
            <a:pPr indent="0" marL="0">
              <a:buNone/>
            </a:pPr>
            <a:r>
              <a:rPr lang="en-US" sz="1500" b="1" dirty="0">
                <a:solidFill>
                  <a:schemeClr val="tx2"/>
                </a:solidFill>
              </a:rPr>
              <a:t>Privacy, legal, ethics</a:t>
            </a:r>
            <a:endParaRPr lang="en-US" sz="1500" dirty="0"/>
          </a:p>
        </p:txBody>
      </p:sp>
      <p:sp>
        <p:nvSpPr>
          <p:cNvPr id="30" name="Text 21"/>
          <p:cNvSpPr txBox="1"/>
          <p:nvPr/>
        </p:nvSpPr>
        <p:spPr>
          <a:xfrm>
            <a:off x="6309360" y="3886200"/>
            <a:ext cx="2286000" cy="640080"/>
          </a:xfrm>
          <a:prstGeom prst="rect">
            <a:avLst/>
          </a:prstGeom>
          <a:noFill/>
          <a:ln/>
        </p:spPr>
        <p:txBody>
          <a:bodyPr wrap="square" lIns="0" tIns="0" rIns="0" bIns="0" rtlCol="0" anchor="t"/>
          <a:lstStyle/>
          <a:p>
            <a:pPr indent="0" marL="0">
              <a:buNone/>
            </a:pPr>
            <a:r>
              <a:rPr lang="en-US" sz="1300" dirty="0">
                <a:solidFill>
                  <a:schemeClr val="tx1"/>
                </a:solidFill>
              </a:rPr>
              <a:t>responsible-AI rules and reviews</a:t>
            </a:r>
            <a:endParaRPr lang="en-US" sz="1300" dirty="0"/>
          </a:p>
        </p:txBody>
      </p:sp>
      <p:sp>
        <p:nvSpPr>
          <p:cNvPr id="31" name="Shape 22"/>
          <p:cNvSpPr/>
          <p:nvPr/>
        </p:nvSpPr>
        <p:spPr>
          <a:xfrm>
            <a:off x="8915400" y="3108960"/>
            <a:ext cx="2606040" cy="1508760"/>
          </a:xfrm>
          <a:prstGeom prst="roundRect">
            <a:avLst>
              <a:gd name="adj" fmla="val 9091"/>
            </a:avLst>
          </a:prstGeom>
          <a:solidFill>
            <a:schemeClr val="bg2"/>
          </a:solidFill>
          <a:ln/>
        </p:spPr>
      </p:sp>
      <p:pic>
        <p:nvPicPr>
          <p:cNvPr id="32" name="Image 7" descr="preencoded.png">    </p:cNvPr>
          <p:cNvPicPr>
            <a:picLocks noChangeAspect="1"/>
          </p:cNvPicPr>
          <p:nvPr/>
        </p:nvPicPr>
        <p:blipFill>
          <a:blip r:embed="rId8"/>
          <a:stretch>
            <a:fillRect/>
          </a:stretch>
        </p:blipFill>
        <p:spPr>
          <a:xfrm>
            <a:off x="9098280" y="3310128"/>
            <a:ext cx="411480" cy="411480"/>
          </a:xfrm>
          <a:prstGeom prst="rect">
            <a:avLst/>
          </a:prstGeom>
        </p:spPr>
      </p:pic>
      <p:sp>
        <p:nvSpPr>
          <p:cNvPr id="33" name="Text 23"/>
          <p:cNvSpPr txBox="1"/>
          <p:nvPr/>
        </p:nvSpPr>
        <p:spPr>
          <a:xfrm>
            <a:off x="9646920" y="3246120"/>
            <a:ext cx="1783080" cy="548640"/>
          </a:xfrm>
          <a:prstGeom prst="rect">
            <a:avLst/>
          </a:prstGeom>
          <a:noFill/>
          <a:ln/>
        </p:spPr>
        <p:txBody>
          <a:bodyPr wrap="square" lIns="0" tIns="0" rIns="0" bIns="0" rtlCol="0" anchor="ctr"/>
          <a:lstStyle/>
          <a:p>
            <a:pPr indent="0" marL="0">
              <a:buNone/>
            </a:pPr>
            <a:r>
              <a:rPr lang="en-US" sz="1500" b="1" dirty="0">
                <a:solidFill>
                  <a:schemeClr val="tx2"/>
                </a:solidFill>
              </a:rPr>
              <a:t>Change and training</a:t>
            </a:r>
            <a:endParaRPr lang="en-US" sz="1500" dirty="0"/>
          </a:p>
        </p:txBody>
      </p:sp>
      <p:sp>
        <p:nvSpPr>
          <p:cNvPr id="34" name="Text 24"/>
          <p:cNvSpPr txBox="1"/>
          <p:nvPr/>
        </p:nvSpPr>
        <p:spPr>
          <a:xfrm>
            <a:off x="9098280" y="3886200"/>
            <a:ext cx="2286000" cy="640080"/>
          </a:xfrm>
          <a:prstGeom prst="rect">
            <a:avLst/>
          </a:prstGeom>
          <a:noFill/>
          <a:ln/>
        </p:spPr>
        <p:txBody>
          <a:bodyPr wrap="square" lIns="0" tIns="0" rIns="0" bIns="0" rtlCol="0" anchor="t"/>
          <a:lstStyle/>
          <a:p>
            <a:pPr indent="0" marL="0">
              <a:buNone/>
            </a:pPr>
            <a:r>
              <a:rPr lang="en-US" sz="1300" dirty="0">
                <a:solidFill>
                  <a:schemeClr val="tx1"/>
                </a:solidFill>
              </a:rPr>
              <a:t>help staff and filers adopt it</a:t>
            </a:r>
            <a:endParaRPr lang="en-US" sz="1300" dirty="0"/>
          </a:p>
        </p:txBody>
      </p:sp>
      <p:sp>
        <p:nvSpPr>
          <p:cNvPr id="35" name="Text 25"/>
          <p:cNvSpPr txBox="1"/>
          <p:nvPr/>
        </p:nvSpPr>
        <p:spPr>
          <a:xfrm>
            <a:off x="548640" y="4892040"/>
            <a:ext cx="11064240" cy="365760"/>
          </a:xfrm>
          <a:prstGeom prst="rect">
            <a:avLst/>
          </a:prstGeom>
          <a:noFill/>
          <a:ln/>
        </p:spPr>
        <p:txBody>
          <a:bodyPr wrap="square" lIns="0" tIns="0" rIns="0" bIns="0" rtlCol="0" anchor="ctr"/>
          <a:lstStyle/>
          <a:p>
            <a:pPr indent="0" marL="0">
              <a:buNone/>
            </a:pPr>
            <a:r>
              <a:rPr lang="en-US" sz="1600" b="1" dirty="0">
                <a:solidFill>
                  <a:schemeClr val="accent1"/>
                </a:solidFill>
              </a:rPr>
              <a:t>Others are already moving</a:t>
            </a:r>
            <a:endParaRPr lang="en-US" sz="1600" dirty="0"/>
          </a:p>
        </p:txBody>
      </p:sp>
      <p:sp>
        <p:nvSpPr>
          <p:cNvPr id="36" name="Text 26"/>
          <p:cNvSpPr txBox="1"/>
          <p:nvPr/>
        </p:nvSpPr>
        <p:spPr>
          <a:xfrm>
            <a:off x="548640" y="5257800"/>
            <a:ext cx="11064240" cy="914400"/>
          </a:xfrm>
          <a:prstGeom prst="rect">
            <a:avLst/>
          </a:prstGeom>
          <a:noFill/>
          <a:ln/>
        </p:spPr>
        <p:txBody>
          <a:bodyPr wrap="square" lIns="0" tIns="0" rIns="0" bIns="0" rtlCol="0" anchor="t"/>
          <a:lstStyle/>
          <a:p>
            <a:pPr indent="0" marL="0">
              <a:buNone/>
            </a:pPr>
            <a:r>
              <a:rPr lang="en-US" sz="1300" b="1" dirty="0">
                <a:solidFill>
                  <a:schemeClr val="tx1"/>
                </a:solidFill>
              </a:rPr>
              <a:t>BC Energy Regulator</a:t>
            </a:r>
            <a:pPr indent="0" marL="0">
              <a:buNone/>
            </a:pPr>
            <a:r>
              <a:rPr lang="en-US" sz="1300" dirty="0">
                <a:solidFill>
                  <a:schemeClr val="tx1"/>
                </a:solidFill>
              </a:rPr>
              <a:t> is expanding an AI permit assistant on its cloud platform (2026).   </a:t>
            </a:r>
            <a:pPr indent="0" marL="0">
              <a:buNone/>
            </a:pPr>
            <a:r>
              <a:rPr lang="en-US" sz="1300" b="1" dirty="0">
                <a:solidFill>
                  <a:schemeClr val="tx1"/>
                </a:solidFill>
              </a:rPr>
              <a:t>Alberta Energy Regulator</a:t>
            </a:r>
            <a:pPr indent="0" marL="0">
              <a:buNone/>
            </a:pPr>
            <a:r>
              <a:rPr lang="en-US" sz="1300" dirty="0">
                <a:solidFill>
                  <a:schemeClr val="tx1"/>
                </a:solidFill>
              </a:rPr>
              <a:t> built OneStop: most routine applications approved automatically.   </a:t>
            </a:r>
            <a:pPr indent="0" marL="0">
              <a:buNone/>
            </a:pPr>
            <a:r>
              <a:rPr lang="en-US" sz="1300" b="1" dirty="0">
                <a:solidFill>
                  <a:schemeClr val="tx1"/>
                </a:solidFill>
              </a:rPr>
              <a:t>Government of Canada</a:t>
            </a:r>
            <a:pPr indent="0" marL="0">
              <a:buNone/>
            </a:pPr>
            <a:r>
              <a:rPr lang="en-US" sz="1300" dirty="0">
                <a:solidFill>
                  <a:schemeClr val="tx1"/>
                </a:solidFill>
              </a:rPr>
              <a:t> AI Strategy 2025–27: an AI Centre of Expertise and responsible-AI rules.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indent="0" marL="0">
              <a:buNone/>
            </a:pPr>
            <a:r>
              <a:rPr lang="en-US" sz="3400" b="1" dirty="0">
                <a:solidFill>
                  <a:schemeClr val="bg1"/>
                </a:solidFill>
              </a:rPr>
              <a:t>Lessons for every part of the organization</a:t>
            </a:r>
            <a:endParaRPr lang="en-US" sz="3400" dirty="0"/>
          </a:p>
        </p:txBody>
      </p:sp>
      <p:sp>
        <p:nvSpPr>
          <p:cNvPr id="3" name="Text 1"/>
          <p:cNvSpPr txBox="1"/>
          <p:nvPr/>
        </p:nvSpPr>
        <p:spPr>
          <a:xfrm>
            <a:off x="548640" y="1417320"/>
            <a:ext cx="5394960" cy="502920"/>
          </a:xfrm>
          <a:prstGeom prst="rect">
            <a:avLst/>
          </a:prstGeom>
          <a:noFill/>
          <a:ln/>
        </p:spPr>
        <p:txBody>
          <a:bodyPr wrap="square" lIns="0" tIns="0" rIns="0" bIns="0" rtlCol="0" anchor="ctr"/>
          <a:lstStyle/>
          <a:p>
            <a:pPr indent="0" marL="0">
              <a:buNone/>
            </a:pPr>
            <a:r>
              <a:rPr lang="en-US" sz="2100" b="1" dirty="0">
                <a:solidFill>
                  <a:schemeClr val="accent1"/>
                </a:solidFill>
              </a:rPr>
              <a:t>AI is only as good as its data</a:t>
            </a:r>
            <a:endParaRPr lang="en-US" sz="2100" dirty="0"/>
          </a:p>
        </p:txBody>
      </p:sp>
      <p:sp>
        <p:nvSpPr>
          <p:cNvPr id="4" name="Text 2"/>
          <p:cNvSpPr txBox="1"/>
          <p:nvPr/>
        </p:nvSpPr>
        <p:spPr>
          <a:xfrm>
            <a:off x="548640" y="1920240"/>
            <a:ext cx="5394960" cy="548640"/>
          </a:xfrm>
          <a:prstGeom prst="rect">
            <a:avLst/>
          </a:prstGeom>
          <a:noFill/>
          <a:ln/>
        </p:spPr>
        <p:txBody>
          <a:bodyPr wrap="square" lIns="0" tIns="0" rIns="0" bIns="0" rtlCol="0" anchor="t"/>
          <a:lstStyle/>
          <a:p>
            <a:pPr indent="0" marL="0">
              <a:buNone/>
            </a:pPr>
            <a:r>
              <a:rPr lang="en-US" sz="1600" dirty="0">
                <a:solidFill>
                  <a:schemeClr val="bg2"/>
                </a:solidFill>
              </a:rPr>
              <a:t>Fix data where it is created, not after.</a:t>
            </a:r>
            <a:endParaRPr lang="en-US" sz="1600" dirty="0"/>
          </a:p>
        </p:txBody>
      </p:sp>
      <p:sp>
        <p:nvSpPr>
          <p:cNvPr id="5" name="Text 3"/>
          <p:cNvSpPr txBox="1"/>
          <p:nvPr/>
        </p:nvSpPr>
        <p:spPr>
          <a:xfrm>
            <a:off x="6217920" y="1417320"/>
            <a:ext cx="5394960" cy="502920"/>
          </a:xfrm>
          <a:prstGeom prst="rect">
            <a:avLst/>
          </a:prstGeom>
          <a:noFill/>
          <a:ln/>
        </p:spPr>
        <p:txBody>
          <a:bodyPr wrap="square" lIns="0" tIns="0" rIns="0" bIns="0" rtlCol="0" anchor="ctr"/>
          <a:lstStyle/>
          <a:p>
            <a:pPr indent="0" marL="0">
              <a:buNone/>
            </a:pPr>
            <a:r>
              <a:rPr lang="en-US" sz="2100" b="1" dirty="0">
                <a:solidFill>
                  <a:schemeClr val="accent1"/>
                </a:solidFill>
              </a:rPr>
              <a:t>Failures are silent</a:t>
            </a:r>
            <a:endParaRPr lang="en-US" sz="2100" dirty="0"/>
          </a:p>
        </p:txBody>
      </p:sp>
      <p:sp>
        <p:nvSpPr>
          <p:cNvPr id="6" name="Text 4"/>
          <p:cNvSpPr txBox="1"/>
          <p:nvPr/>
        </p:nvSpPr>
        <p:spPr>
          <a:xfrm>
            <a:off x="6217920" y="1920240"/>
            <a:ext cx="5394960" cy="548640"/>
          </a:xfrm>
          <a:prstGeom prst="rect">
            <a:avLst/>
          </a:prstGeom>
          <a:noFill/>
          <a:ln/>
        </p:spPr>
        <p:txBody>
          <a:bodyPr wrap="square" lIns="0" tIns="0" rIns="0" bIns="0" rtlCol="0" anchor="t"/>
          <a:lstStyle/>
          <a:p>
            <a:pPr indent="0" marL="0">
              <a:buNone/>
            </a:pPr>
            <a:r>
              <a:rPr lang="en-US" sz="1600" dirty="0">
                <a:solidFill>
                  <a:schemeClr val="bg2"/>
                </a:solidFill>
              </a:rPr>
              <a:t>A system can look finished and be wrong. Ask for proof.</a:t>
            </a:r>
            <a:endParaRPr lang="en-US" sz="1600" dirty="0"/>
          </a:p>
        </p:txBody>
      </p:sp>
      <p:sp>
        <p:nvSpPr>
          <p:cNvPr id="7" name="Text 5"/>
          <p:cNvSpPr txBox="1"/>
          <p:nvPr/>
        </p:nvSpPr>
        <p:spPr>
          <a:xfrm>
            <a:off x="548640" y="2651760"/>
            <a:ext cx="5394960" cy="502920"/>
          </a:xfrm>
          <a:prstGeom prst="rect">
            <a:avLst/>
          </a:prstGeom>
          <a:noFill/>
          <a:ln/>
        </p:spPr>
        <p:txBody>
          <a:bodyPr wrap="square" lIns="0" tIns="0" rIns="0" bIns="0" rtlCol="0" anchor="ctr"/>
          <a:lstStyle/>
          <a:p>
            <a:pPr indent="0" marL="0">
              <a:buNone/>
            </a:pPr>
            <a:r>
              <a:rPr lang="en-US" sz="2100" b="1" dirty="0">
                <a:solidFill>
                  <a:schemeClr val="accent1"/>
                </a:solidFill>
              </a:rPr>
              <a:t>Rules beat advice</a:t>
            </a:r>
            <a:endParaRPr lang="en-US" sz="2100" dirty="0"/>
          </a:p>
        </p:txBody>
      </p:sp>
      <p:sp>
        <p:nvSpPr>
          <p:cNvPr id="8" name="Text 6"/>
          <p:cNvSpPr txBox="1"/>
          <p:nvPr/>
        </p:nvSpPr>
        <p:spPr>
          <a:xfrm>
            <a:off x="548640" y="3154680"/>
            <a:ext cx="5394960" cy="548640"/>
          </a:xfrm>
          <a:prstGeom prst="rect">
            <a:avLst/>
          </a:prstGeom>
          <a:noFill/>
          <a:ln/>
        </p:spPr>
        <p:txBody>
          <a:bodyPr wrap="square" lIns="0" tIns="0" rIns="0" bIns="0" rtlCol="0" anchor="t"/>
          <a:lstStyle/>
          <a:p>
            <a:pPr indent="0" marL="0">
              <a:buNone/>
            </a:pPr>
            <a:r>
              <a:rPr lang="en-US" sz="1600" dirty="0">
                <a:solidFill>
                  <a:schemeClr val="bg2"/>
                </a:solidFill>
              </a:rPr>
              <a:t>Build checks into systems instead of writing guidance.</a:t>
            </a:r>
            <a:endParaRPr lang="en-US" sz="1600" dirty="0"/>
          </a:p>
        </p:txBody>
      </p:sp>
      <p:sp>
        <p:nvSpPr>
          <p:cNvPr id="9" name="Text 7"/>
          <p:cNvSpPr txBox="1"/>
          <p:nvPr/>
        </p:nvSpPr>
        <p:spPr>
          <a:xfrm>
            <a:off x="6217920" y="2651760"/>
            <a:ext cx="5394960" cy="502920"/>
          </a:xfrm>
          <a:prstGeom prst="rect">
            <a:avLst/>
          </a:prstGeom>
          <a:noFill/>
          <a:ln/>
        </p:spPr>
        <p:txBody>
          <a:bodyPr wrap="square" lIns="0" tIns="0" rIns="0" bIns="0" rtlCol="0" anchor="ctr"/>
          <a:lstStyle/>
          <a:p>
            <a:pPr indent="0" marL="0">
              <a:buNone/>
            </a:pPr>
            <a:r>
              <a:rPr lang="en-US" sz="2100" b="1" dirty="0">
                <a:solidFill>
                  <a:schemeClr val="accent1"/>
                </a:solidFill>
              </a:rPr>
              <a:t>Small habits add up</a:t>
            </a:r>
            <a:endParaRPr lang="en-US" sz="2100" dirty="0"/>
          </a:p>
        </p:txBody>
      </p:sp>
      <p:sp>
        <p:nvSpPr>
          <p:cNvPr id="10" name="Text 8"/>
          <p:cNvSpPr txBox="1"/>
          <p:nvPr/>
        </p:nvSpPr>
        <p:spPr>
          <a:xfrm>
            <a:off x="6217920" y="3154680"/>
            <a:ext cx="5394960" cy="548640"/>
          </a:xfrm>
          <a:prstGeom prst="rect">
            <a:avLst/>
          </a:prstGeom>
          <a:noFill/>
          <a:ln/>
        </p:spPr>
        <p:txBody>
          <a:bodyPr wrap="square" lIns="0" tIns="0" rIns="0" bIns="0" rtlCol="0" anchor="t"/>
          <a:lstStyle/>
          <a:p>
            <a:pPr indent="0" marL="0">
              <a:buNone/>
            </a:pPr>
            <a:r>
              <a:rPr lang="en-US" sz="1600" dirty="0">
                <a:solidFill>
                  <a:schemeClr val="bg2"/>
                </a:solidFill>
              </a:rPr>
              <a:t>Printing to sign made nearly half the problem.</a:t>
            </a:r>
            <a:endParaRPr lang="en-US" sz="1600" dirty="0"/>
          </a:p>
        </p:txBody>
      </p:sp>
      <p:sp>
        <p:nvSpPr>
          <p:cNvPr id="11" name="Shape 9"/>
          <p:cNvSpPr/>
          <p:nvPr/>
        </p:nvSpPr>
        <p:spPr>
          <a:xfrm>
            <a:off x="548640" y="3977640"/>
            <a:ext cx="11064240" cy="2194560"/>
          </a:xfrm>
          <a:prstGeom prst="roundRect">
            <a:avLst>
              <a:gd name="adj" fmla="val 6250"/>
            </a:avLst>
          </a:prstGeom>
          <a:solidFill>
            <a:schemeClr val="bg1"/>
          </a:solidFill>
          <a:ln/>
        </p:spPr>
      </p:sp>
      <p:sp>
        <p:nvSpPr>
          <p:cNvPr id="12" name="Text 10"/>
          <p:cNvSpPr txBox="1"/>
          <p:nvPr/>
        </p:nvSpPr>
        <p:spPr>
          <a:xfrm>
            <a:off x="868680" y="4160520"/>
            <a:ext cx="10424160" cy="457200"/>
          </a:xfrm>
          <a:prstGeom prst="rect">
            <a:avLst/>
          </a:prstGeom>
          <a:noFill/>
          <a:ln/>
        </p:spPr>
        <p:txBody>
          <a:bodyPr wrap="square" lIns="0" tIns="0" rIns="0" bIns="0" rtlCol="0" anchor="ctr"/>
          <a:lstStyle/>
          <a:p>
            <a:pPr indent="0" marL="0">
              <a:buNone/>
            </a:pPr>
            <a:r>
              <a:rPr lang="en-US" sz="2000" b="1" dirty="0">
                <a:solidFill>
                  <a:schemeClr val="tx2"/>
                </a:solidFill>
              </a:rPr>
              <a:t>What we are asking for</a:t>
            </a:r>
            <a:endParaRPr lang="en-US" sz="2000" dirty="0"/>
          </a:p>
        </p:txBody>
      </p:sp>
      <p:sp>
        <p:nvSpPr>
          <p:cNvPr id="13" name="Text 11"/>
          <p:cNvSpPr txBox="1"/>
          <p:nvPr/>
        </p:nvSpPr>
        <p:spPr>
          <a:xfrm>
            <a:off x="868680" y="4617720"/>
            <a:ext cx="10424160" cy="146304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chemeClr val="tx1"/>
                </a:solidFill>
              </a:rPr>
              <a:t>Stand up an AI build team and a cloud strategy, with an executive sponsor</a:t>
            </a:r>
            <a:endParaRPr lang="en-US" sz="1700" dirty="0"/>
          </a:p>
          <a:p>
            <a:pPr marL="342900" indent="-342900">
              <a:spcAft>
                <a:spcPts val="600"/>
              </a:spcAft>
              <a:buSzPct val="100000"/>
              <a:buChar char="•"/>
            </a:pPr>
            <a:r>
              <a:rPr lang="en-US" sz="1700" dirty="0">
                <a:solidFill>
                  <a:schemeClr val="tx1"/>
                </a:solidFill>
              </a:rPr>
              <a:t>Change our filing rules and portal through the Rules of Practice review already under way</a:t>
            </a:r>
            <a:endParaRPr lang="en-US" sz="1700" dirty="0"/>
          </a:p>
          <a:p>
            <a:pPr marL="342900" indent="-342900">
              <a:spcAft>
                <a:spcPts val="600"/>
              </a:spcAft>
              <a:buSzPct val="100000"/>
              <a:buChar char="•"/>
            </a:pPr>
            <a:r>
              <a:rPr lang="en-US" sz="1700" dirty="0">
                <a:solidFill>
                  <a:schemeClr val="tx1"/>
                </a:solidFill>
              </a:rPr>
              <a:t>Start now with two quick wins: the automatic upload check, and a privacy review of flawed redactions</a:t>
            </a:r>
            <a:endParaRPr lang="en-US" sz="1700" dirty="0"/>
          </a:p>
        </p:txBody>
      </p:sp>
      <p:sp>
        <p:nvSpPr>
          <p:cNvPr id="14" name="Text 12"/>
          <p:cNvSpPr txBox="1"/>
          <p:nvPr/>
        </p:nvSpPr>
        <p:spPr>
          <a:xfrm>
            <a:off x="548640" y="6263640"/>
            <a:ext cx="10424160" cy="365760"/>
          </a:xfrm>
          <a:prstGeom prst="rect">
            <a:avLst/>
          </a:prstGeom>
          <a:noFill/>
          <a:ln/>
        </p:spPr>
        <p:txBody>
          <a:bodyPr wrap="square" lIns="0" tIns="0" rIns="0" bIns="0" rtlCol="0" anchor="ctr"/>
          <a:lstStyle/>
          <a:p>
            <a:pPr indent="0" marL="0">
              <a:buNone/>
            </a:pPr>
            <a:r>
              <a:rPr lang="en-US" sz="1200" i="1" dirty="0">
                <a:solidFill>
                  <a:schemeClr val="bg2"/>
                </a:solidFill>
              </a:rPr>
              <a:t>“Agentic AI is not primarily a technology challenge.”  — UK Local Government Association, 2026</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CER Filing for AI">
  <a:themeElements>
    <a:clrScheme name="CER Filing for AI">
      <a:dk1>
        <a:srgbClr val="1F2A33"/>
      </a:dk1>
      <a:lt1>
        <a:srgbClr val="FFFFFF"/>
      </a:lt1>
      <a:dk2>
        <a:srgbClr val="0E4D57"/>
      </a:dk2>
      <a:lt2>
        <a:srgbClr val="EEF3F4"/>
      </a:lt2>
      <a:accent1>
        <a:srgbClr val="D9731A"/>
      </a:accent1>
      <a:accent2>
        <a:srgbClr val="0E4D57"/>
      </a:accent2>
      <a:accent3>
        <a:srgbClr val="6B7C85"/>
      </a:accent3>
      <a:accent4>
        <a:srgbClr val="2D7F8C"/>
      </a:accent4>
      <a:accent5>
        <a:srgbClr val="B8C6CC"/>
      </a:accent5>
      <a:accent6>
        <a:srgbClr val="B23A2E"/>
      </a:accent6>
      <a:hlink>
        <a:srgbClr val="0E4D57"/>
      </a:hlink>
      <a:folHlink>
        <a:srgbClr val="5A6B73"/>
      </a:folHlink>
    </a:clrScheme>
    <a:fontScheme name="CER Filing for A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Getting our filings ready for AI</dc:title>
  <dc:subject>What reading every REGDOCS filing taught us, and what it will take</dc:subject>
  <dc:creator>Jason Vriends</dc:creator>
  <cp:lastModifiedBy>Jason Vriends</cp:lastModifiedBy>
  <cp:revision>1</cp:revision>
  <dcterms:created xsi:type="dcterms:W3CDTF">2026-10-18T14:49:05Z</dcterms:created>
  <dcterms:modified xsi:type="dcterms:W3CDTF">2026-10-18T14:49:05Z</dcterms:modified>
</cp:coreProperties>
</file>